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67" r:id="rId7"/>
    <p:sldId id="258" r:id="rId8"/>
    <p:sldId id="264" r:id="rId9"/>
    <p:sldId id="265" r:id="rId10"/>
    <p:sldId id="266" r:id="rId11"/>
    <p:sldId id="259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88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300"/>
              <a:t>Revenue and Ratings Trends by Genre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r>
              <a:rPr lang="en-US" sz="2400"/>
              <a:t>Prepared by: Bhavana, Lokesh, Nikhil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4F2FC05-7D27-410F-BDA9-ADF48313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79" y="633619"/>
            <a:ext cx="409336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8" y="978408"/>
            <a:ext cx="3455289" cy="1106424"/>
          </a:xfrm>
        </p:spPr>
        <p:txBody>
          <a:bodyPr>
            <a:normAutofit/>
          </a:bodyPr>
          <a:lstStyle/>
          <a:p>
            <a:r>
              <a:rPr lang="en-US" sz="2500" dirty="0"/>
              <a:t>Dataset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3" y="1181536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2" y="2185416"/>
            <a:ext cx="3334863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630934" y="2368296"/>
            <a:ext cx="3455289" cy="3502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Dataset : IMDB movie dataset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This visualization represents:</a:t>
            </a:r>
          </a:p>
          <a:p>
            <a:r>
              <a:rPr lang="en-US" sz="1600" dirty="0"/>
              <a:t>Revenue (in millions) by movie genre for the periods 2006 to 2015.</a:t>
            </a:r>
          </a:p>
          <a:p>
            <a:r>
              <a:rPr lang="en-US" sz="1600" dirty="0"/>
              <a:t>We have categorized the years into two groups: 2006–2010 and 2011–2015</a:t>
            </a:r>
          </a:p>
          <a:p>
            <a:r>
              <a:rPr lang="en-US" sz="1600" dirty="0"/>
              <a:t>Average Ratings on a scale of 1-10 for the same periods.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7" name="Picture 6" descr="A screenshot of a spreadsheet&#10;&#10;Description automatically generated">
            <a:extLst>
              <a:ext uri="{FF2B5EF4-FFF2-40B4-BE49-F238E27FC236}">
                <a16:creationId xmlns:a16="http://schemas.microsoft.com/office/drawing/2014/main" id="{BFFA927B-D231-E06F-1BB5-C9D4B1ACB7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70" b="-1"/>
          <a:stretch/>
        </p:blipFill>
        <p:spPr>
          <a:xfrm>
            <a:off x="4572000" y="633619"/>
            <a:ext cx="4093363" cy="46610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0DCFC-D99B-C871-16C8-156B1147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365958" cy="655804"/>
          </a:xfrm>
        </p:spPr>
        <p:txBody>
          <a:bodyPr>
            <a:normAutofit fontScale="90000"/>
          </a:bodyPr>
          <a:lstStyle/>
          <a:p>
            <a:r>
              <a:rPr lang="en-US" sz="4400" kern="1200" dirty="0">
                <a:latin typeface="+mj-lt"/>
                <a:ea typeface="+mj-ea"/>
                <a:cs typeface="+mj-cs"/>
              </a:rPr>
              <a:t>Visualization</a:t>
            </a:r>
            <a:endParaRPr lang="en-US" dirty="0"/>
          </a:p>
        </p:txBody>
      </p:sp>
      <p:pic>
        <p:nvPicPr>
          <p:cNvPr id="5" name="Content Placeholder 4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3A282E24-8DEB-BE4D-B6AB-B0EEACAA7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545" y="1284411"/>
            <a:ext cx="6787204" cy="5090403"/>
          </a:xfrm>
        </p:spPr>
      </p:pic>
    </p:spTree>
    <p:extLst>
      <p:ext uri="{BB962C8B-B14F-4D97-AF65-F5344CB8AC3E}">
        <p14:creationId xmlns:p14="http://schemas.microsoft.com/office/powerpoint/2010/main" val="1822295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26720"/>
            <a:ext cx="7879842" cy="1919141"/>
          </a:xfrm>
        </p:spPr>
        <p:txBody>
          <a:bodyPr anchor="b">
            <a:normAutofit/>
          </a:bodyPr>
          <a:lstStyle/>
          <a:p>
            <a:r>
              <a:rPr lang="en-US" sz="5200"/>
              <a:t>Graph Explanation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337269"/>
            <a:ext cx="7882128" cy="290568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The graph combines: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Bar chart: Revenue by genre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Line chart: Average ratings scaled to match revenue for comparison.</a:t>
            </a:r>
          </a:p>
          <a:p>
            <a:pPr>
              <a:lnSpc>
                <a:spcPct val="90000"/>
              </a:lnSpc>
            </a:pPr>
            <a:endParaRPr lang="en-US" sz="19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Key Elements: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X-axis: Genres separated by time period (2006-2010, 2011-2015).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Y-axis (left): Revenue in millions.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Y-axis (right): Average rating.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Legend: Movie Genres.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DC159-F374-0980-03F1-E253F92A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anchor="b">
            <a:normAutofit/>
          </a:bodyPr>
          <a:lstStyle/>
          <a:p>
            <a:r>
              <a:rPr lang="en-US" sz="3000" dirty="0"/>
              <a:t>Data type and idiom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11489-0394-38F4-6F6F-41483D1EA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" y="2684095"/>
            <a:ext cx="3332365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      Data Types:</a:t>
            </a:r>
          </a:p>
          <a:p>
            <a:r>
              <a:rPr lang="en-US" sz="1600" dirty="0"/>
              <a:t>Categorical: Genre, Years</a:t>
            </a:r>
          </a:p>
          <a:p>
            <a:r>
              <a:rPr lang="en-US" sz="1600" dirty="0"/>
              <a:t>Quantitative: Revenue, Average Rating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       Idiom</a:t>
            </a:r>
          </a:p>
          <a:p>
            <a:r>
              <a:rPr lang="en-US" sz="1600" dirty="0"/>
              <a:t>Bar graph </a:t>
            </a:r>
          </a:p>
          <a:p>
            <a:r>
              <a:rPr lang="en-US" sz="1600" dirty="0"/>
              <a:t>Line graph </a:t>
            </a:r>
          </a:p>
        </p:txBody>
      </p:sp>
      <p:pic>
        <p:nvPicPr>
          <p:cNvPr id="6" name="Picture 5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F4CD34D6-B72B-E0A1-4510-B54093FD4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62" y="1589953"/>
            <a:ext cx="4830318" cy="362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6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165091-C92E-1516-948C-7FEF626C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Marks and Channels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94BA9-B8CD-79B1-998C-6DA8A0DCB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marL="0" indent="0">
              <a:buNone/>
            </a:pPr>
            <a:r>
              <a:rPr lang="en-US" sz="1900" dirty="0"/>
              <a:t>      </a:t>
            </a:r>
            <a:r>
              <a:rPr lang="en-US" sz="1900" b="1" dirty="0"/>
              <a:t>Marks:</a:t>
            </a:r>
          </a:p>
          <a:p>
            <a:r>
              <a:rPr lang="en-US" sz="1900" dirty="0"/>
              <a:t>Bars ( Revenue)</a:t>
            </a:r>
          </a:p>
          <a:p>
            <a:r>
              <a:rPr lang="en-US" sz="1900" dirty="0"/>
              <a:t>Line Chart ( Ratings)</a:t>
            </a:r>
          </a:p>
          <a:p>
            <a:r>
              <a:rPr lang="en-US" sz="1900" dirty="0"/>
              <a:t>Text Annotation (Revenue and Ratings values are labeled for clarity)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dirty="0"/>
              <a:t>      </a:t>
            </a:r>
            <a:r>
              <a:rPr lang="en-US" sz="1900" b="1" dirty="0"/>
              <a:t>Channels :</a:t>
            </a:r>
          </a:p>
          <a:p>
            <a:r>
              <a:rPr lang="en-US" sz="1900" dirty="0"/>
              <a:t>Region</a:t>
            </a:r>
          </a:p>
          <a:p>
            <a:r>
              <a:rPr lang="en-US" sz="1900" dirty="0"/>
              <a:t>Color</a:t>
            </a:r>
          </a:p>
          <a:p>
            <a:r>
              <a:rPr lang="en-US" sz="1900" dirty="0"/>
              <a:t>length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120641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16BF3-9624-ACF2-5254-32BAADC1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anchor="b">
            <a:normAutofit/>
          </a:bodyPr>
          <a:lstStyle/>
          <a:p>
            <a:r>
              <a:rPr lang="en-US" sz="3000"/>
              <a:t>Relationships and task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7F36B-5A8C-487C-A0B6-E22B679CC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" y="2684095"/>
            <a:ext cx="3332365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Relationships: </a:t>
            </a:r>
          </a:p>
          <a:p>
            <a:r>
              <a:rPr lang="en-US" sz="1600" dirty="0"/>
              <a:t>Time vs. Revenue</a:t>
            </a:r>
          </a:p>
          <a:p>
            <a:r>
              <a:rPr lang="en-US" sz="1600" dirty="0"/>
              <a:t>Genre vs. Revenue</a:t>
            </a:r>
          </a:p>
          <a:p>
            <a:r>
              <a:rPr lang="en-US" sz="1600" dirty="0"/>
              <a:t>Genre vs. Rating</a:t>
            </a:r>
          </a:p>
          <a:p>
            <a:r>
              <a:rPr lang="en-US" sz="1600" dirty="0"/>
              <a:t>Time vs. Rating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Task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Comparing </a:t>
            </a:r>
          </a:p>
        </p:txBody>
      </p:sp>
      <p:pic>
        <p:nvPicPr>
          <p:cNvPr id="5" name="Picture 4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F16A404F-D4D1-5640-BC04-AAE8825C0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60" y="1710269"/>
            <a:ext cx="4830318" cy="362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64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26720"/>
            <a:ext cx="7879842" cy="1919141"/>
          </a:xfrm>
        </p:spPr>
        <p:txBody>
          <a:bodyPr anchor="b">
            <a:normAutofit/>
          </a:bodyPr>
          <a:lstStyle/>
          <a:p>
            <a:r>
              <a:rPr lang="en-US" sz="5200"/>
              <a:t>Insights and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337269"/>
            <a:ext cx="7882128" cy="290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Observations:</a:t>
            </a:r>
          </a:p>
          <a:p>
            <a:r>
              <a:rPr lang="en-US" sz="1900" dirty="0"/>
              <a:t>  Revenue increased significantly for most genres between 2006-2010 </a:t>
            </a:r>
          </a:p>
          <a:p>
            <a:pPr marL="0" indent="0">
              <a:buNone/>
            </a:pPr>
            <a:r>
              <a:rPr lang="en-US" sz="1900" dirty="0"/>
              <a:t>         and  2011-2015.</a:t>
            </a:r>
          </a:p>
          <a:p>
            <a:r>
              <a:rPr lang="en-US" sz="1900" dirty="0"/>
              <a:t>  Average ratings remained relatively stable across genres.</a:t>
            </a:r>
          </a:p>
          <a:p>
            <a:r>
              <a:rPr lang="en-US" sz="1900" dirty="0"/>
              <a:t>  Action and Comedy genres had the highest revenue growth.</a:t>
            </a:r>
          </a:p>
          <a:p>
            <a:r>
              <a:rPr lang="en-US" sz="1900" dirty="0"/>
              <a:t>  Animation consistently received higher average ratings.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BFC19-65D1-2E1D-9CA2-D1459C6E0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49" y="1093788"/>
            <a:ext cx="7879841" cy="2967208"/>
          </a:xfrm>
        </p:spPr>
        <p:txBody>
          <a:bodyPr>
            <a:normAutofit/>
          </a:bodyPr>
          <a:lstStyle/>
          <a:p>
            <a:pPr algn="l"/>
            <a:r>
              <a:rPr lang="en-US" sz="70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B9BA9-1DB5-43E7-1D54-54B55BDD8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0693" y="4619624"/>
            <a:ext cx="2960084" cy="1038225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ym typeface="Wingdings" panose="05000000000000000000" pitchFamily="2" charset="2"/>
              </a:rPr>
              <a:t>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433116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03304" y="2842186"/>
            <a:ext cx="54864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339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3655677-2ea3-4bd0-842d-d26ae9b5d25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F5B279E9494E4584CD4B77D2D6DF48" ma:contentTypeVersion="6" ma:contentTypeDescription="Create a new document." ma:contentTypeScope="" ma:versionID="774a48793a2b0dd19ca61975e0e438dc">
  <xsd:schema xmlns:xsd="http://www.w3.org/2001/XMLSchema" xmlns:xs="http://www.w3.org/2001/XMLSchema" xmlns:p="http://schemas.microsoft.com/office/2006/metadata/properties" xmlns:ns3="43655677-2ea3-4bd0-842d-d26ae9b5d25e" targetNamespace="http://schemas.microsoft.com/office/2006/metadata/properties" ma:root="true" ma:fieldsID="7fe88dfa39081ea99e5c2472ca797c5e" ns3:_="">
    <xsd:import namespace="43655677-2ea3-4bd0-842d-d26ae9b5d25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5677-2ea3-4bd0-842d-d26ae9b5d25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ADF744-176D-4AE4-BC1D-6896BB3DBD1F}">
  <ds:schemaRefs>
    <ds:schemaRef ds:uri="43655677-2ea3-4bd0-842d-d26ae9b5d25e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EFCB2DC-2B15-40C2-B812-3E4FF7E0A8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B0EA58-8C18-405C-821B-1FEE972EB5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5677-2ea3-4bd0-842d-d26ae9b5d2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254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Revenue and Ratings Trends by Genre</vt:lpstr>
      <vt:lpstr>Dataset</vt:lpstr>
      <vt:lpstr>Visualization</vt:lpstr>
      <vt:lpstr>Graph Explanation</vt:lpstr>
      <vt:lpstr>Data type and idiom</vt:lpstr>
      <vt:lpstr>Marks and Channels</vt:lpstr>
      <vt:lpstr>Relationships and task</vt:lpstr>
      <vt:lpstr>Insights and Analysis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CHHATRABAND</dc:creator>
  <cp:keywords/>
  <dc:description>generated using python-pptx</dc:description>
  <cp:lastModifiedBy>Nikhil Chhatraband - chhatrn</cp:lastModifiedBy>
  <cp:revision>8</cp:revision>
  <dcterms:created xsi:type="dcterms:W3CDTF">2013-01-27T09:14:16Z</dcterms:created>
  <dcterms:modified xsi:type="dcterms:W3CDTF">2024-12-04T20:39:17Z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0x01010099F5B279E9494E4584CD4B77D2D6DF48</vt:lpwstr>
  </property>
</Properties>
</file>