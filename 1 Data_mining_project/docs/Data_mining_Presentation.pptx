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60" r:id="rId2"/>
    <p:sldId id="259" r:id="rId3"/>
    <p:sldId id="261" r:id="rId4"/>
    <p:sldId id="262" r:id="rId5"/>
    <p:sldId id="263" r:id="rId6"/>
    <p:sldId id="264" r:id="rId7"/>
    <p:sldId id="265" r:id="rId8"/>
    <p:sldId id="266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1" r:id="rId21"/>
    <p:sldId id="280" r:id="rId22"/>
  </p:sldIdLst>
  <p:sldSz cx="12188825" cy="6858000"/>
  <p:notesSz cx="6950075" cy="9236075"/>
  <p:embeddedFontLst>
    <p:embeddedFont>
      <p:font typeface="Montserrat" panose="00000500000000000000" pitchFamily="2" charset="0"/>
      <p:regular r:id="rId24"/>
      <p:bold r:id="rId25"/>
      <p:italic r:id="rId26"/>
      <p:bold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  <p:embeddedFont>
      <p:font typeface="Segoe UI Variable Text" pitchFamily="2" charset="0"/>
      <p:regular r:id="rId32"/>
      <p:bold r:id="rId33"/>
    </p:embeddedFont>
    <p:embeddedFont>
      <p:font typeface="Zilla Slab SemiBold" panose="020B0604020202020204" charset="0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96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19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jUg5lKRf5Z3Z1zH356Lv5YFO/3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>
        <p:guide orient="horz" pos="1968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09"/>
        <p:guide pos="219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704850" y="139505"/>
            <a:ext cx="5540375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" y="3294345"/>
            <a:ext cx="6950074" cy="5941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sldNum" idx="12"/>
          </p:nvPr>
        </p:nvSpPr>
        <p:spPr>
          <a:xfrm>
            <a:off x="6075122" y="8772525"/>
            <a:ext cx="87336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0ebc27248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4850" y="139700"/>
            <a:ext cx="5540375" cy="3117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0ebc272483_0_0:notes"/>
          <p:cNvSpPr txBox="1">
            <a:spLocks noGrp="1"/>
          </p:cNvSpPr>
          <p:nvPr>
            <p:ph type="body" idx="1"/>
          </p:nvPr>
        </p:nvSpPr>
        <p:spPr>
          <a:xfrm>
            <a:off x="1" y="3294345"/>
            <a:ext cx="6950100" cy="59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0ebc272483_0_0:notes"/>
          <p:cNvSpPr txBox="1">
            <a:spLocks noGrp="1"/>
          </p:cNvSpPr>
          <p:nvPr>
            <p:ph type="sldNum" idx="12"/>
          </p:nvPr>
        </p:nvSpPr>
        <p:spPr>
          <a:xfrm>
            <a:off x="6075122" y="8772525"/>
            <a:ext cx="8733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9967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background - Single column - 2 line headline">
  <p:cSld name="title and content full_1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230bab91136_0_3"/>
          <p:cNvSpPr/>
          <p:nvPr/>
        </p:nvSpPr>
        <p:spPr>
          <a:xfrm>
            <a:off x="163050" y="657175"/>
            <a:ext cx="11950200" cy="13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g230bab91136_0_3"/>
          <p:cNvSpPr txBox="1">
            <a:spLocks noGrp="1"/>
          </p:cNvSpPr>
          <p:nvPr>
            <p:ph type="body" idx="1"/>
          </p:nvPr>
        </p:nvSpPr>
        <p:spPr>
          <a:xfrm>
            <a:off x="188913" y="1377330"/>
            <a:ext cx="11849100" cy="51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35433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1pPr>
            <a:lvl2pPr marL="914400" lvl="1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2pPr>
            <a:lvl3pPr marL="1371600" lvl="2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3pPr>
            <a:lvl4pPr marL="1828800" lvl="3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4pPr>
            <a:lvl5pPr marL="2286000" lvl="4" indent="-354329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0" name="Google Shape;20;g230bab91136_0_3"/>
          <p:cNvSpPr txBox="1">
            <a:spLocks noGrp="1"/>
          </p:cNvSpPr>
          <p:nvPr>
            <p:ph type="title"/>
          </p:nvPr>
        </p:nvSpPr>
        <p:spPr>
          <a:xfrm>
            <a:off x="188925" y="0"/>
            <a:ext cx="11849100" cy="10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1" name="Google Shape;21;g230bab91136_0_3"/>
          <p:cNvCxnSpPr/>
          <p:nvPr/>
        </p:nvCxnSpPr>
        <p:spPr>
          <a:xfrm>
            <a:off x="188913" y="1128067"/>
            <a:ext cx="118491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ain title">
  <p:cSld name="Main title">
    <p:bg>
      <p:bgPr>
        <a:solidFill>
          <a:schemeClr val="dk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>
            <a:spLocks noGrp="1"/>
          </p:cNvSpPr>
          <p:nvPr>
            <p:ph type="subTitle" idx="1"/>
          </p:nvPr>
        </p:nvSpPr>
        <p:spPr>
          <a:xfrm>
            <a:off x="0" y="4651373"/>
            <a:ext cx="12188700" cy="22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640"/>
              <a:buNone/>
              <a:defRPr sz="2400" b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1238"/>
              <a:buNone/>
              <a:defRPr sz="1125"/>
            </a:lvl2pPr>
            <a:lvl3pPr lvl="2" algn="ctr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1114"/>
              <a:buNone/>
              <a:defRPr sz="1013"/>
            </a:lvl3pPr>
            <a:lvl4pPr lvl="3" algn="ctr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990"/>
              <a:buNone/>
              <a:defRPr sz="900"/>
            </a:lvl4pPr>
            <a:lvl5pPr lvl="4" algn="ctr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990"/>
              <a:buNone/>
              <a:defRPr sz="900"/>
            </a:lvl5pPr>
            <a:lvl6pPr lvl="5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ctrTitle"/>
          </p:nvPr>
        </p:nvSpPr>
        <p:spPr>
          <a:xfrm>
            <a:off x="0" y="508001"/>
            <a:ext cx="12188700" cy="16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ontserrat"/>
              <a:buNone/>
              <a:defRPr sz="4400" i="0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5" name="Google Shape;25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88747" y="2343902"/>
            <a:ext cx="2411330" cy="2170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background - Single column">
  <p:cSld name="title and content full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 txBox="1">
            <a:spLocks noGrp="1"/>
          </p:cNvSpPr>
          <p:nvPr>
            <p:ph type="body" idx="1"/>
          </p:nvPr>
        </p:nvSpPr>
        <p:spPr>
          <a:xfrm>
            <a:off x="188913" y="996330"/>
            <a:ext cx="11849100" cy="51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35433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1pPr>
            <a:lvl2pPr marL="914400" lvl="1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2pPr>
            <a:lvl3pPr marL="1371600" lvl="2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3pPr>
            <a:lvl4pPr marL="1828800" lvl="3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4pPr>
            <a:lvl5pPr marL="2286000" lvl="4" indent="-354329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188913" y="-1"/>
            <a:ext cx="118491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>
        <p15:guide id="1" orient="horz" pos="392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background - 1/2 photo">
  <p:cSld name="title content half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188913" y="996330"/>
            <a:ext cx="5905500" cy="51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35433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1pPr>
            <a:lvl2pPr marL="914400" lvl="1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2pPr>
            <a:lvl3pPr marL="1371600" lvl="2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3pPr>
            <a:lvl4pPr marL="1828800" lvl="3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4pPr>
            <a:lvl5pPr marL="2286000" lvl="4" indent="-354329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title"/>
          </p:nvPr>
        </p:nvSpPr>
        <p:spPr>
          <a:xfrm>
            <a:off x="188913" y="-1"/>
            <a:ext cx="118491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>
            <a:spLocks noGrp="1"/>
          </p:cNvSpPr>
          <p:nvPr>
            <p:ph type="pic" idx="2"/>
          </p:nvPr>
        </p:nvSpPr>
        <p:spPr>
          <a:xfrm>
            <a:off x="6283326" y="0"/>
            <a:ext cx="59055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>
        <p15:guide id="1" orient="horz" pos="392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background - 1/3 photo">
  <p:cSld name="title content third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body" idx="1"/>
          </p:nvPr>
        </p:nvSpPr>
        <p:spPr>
          <a:xfrm>
            <a:off x="188913" y="996330"/>
            <a:ext cx="7769100" cy="51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35433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1pPr>
            <a:lvl2pPr marL="914400" lvl="1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2pPr>
            <a:lvl3pPr marL="1371600" lvl="2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3pPr>
            <a:lvl4pPr marL="1828800" lvl="3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4pPr>
            <a:lvl5pPr marL="2286000" lvl="4" indent="-354329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title"/>
          </p:nvPr>
        </p:nvSpPr>
        <p:spPr>
          <a:xfrm>
            <a:off x="188913" y="-1"/>
            <a:ext cx="77691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>
            <a:spLocks noGrp="1"/>
          </p:cNvSpPr>
          <p:nvPr>
            <p:ph type="pic" idx="2"/>
          </p:nvPr>
        </p:nvSpPr>
        <p:spPr>
          <a:xfrm>
            <a:off x="8172450" y="0"/>
            <a:ext cx="40164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>
        <p15:guide id="1" orient="horz" pos="392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background - Two columns">
  <p:cSld name="title and content doubl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>
            <a:spLocks noGrp="1"/>
          </p:cNvSpPr>
          <p:nvPr>
            <p:ph type="body" idx="1"/>
          </p:nvPr>
        </p:nvSpPr>
        <p:spPr>
          <a:xfrm>
            <a:off x="188913" y="996330"/>
            <a:ext cx="5797500" cy="51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35433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1pPr>
            <a:lvl2pPr marL="914400" lvl="1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2pPr>
            <a:lvl3pPr marL="1371600" lvl="2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3pPr>
            <a:lvl4pPr marL="1828800" lvl="3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4pPr>
            <a:lvl5pPr marL="2286000" lvl="4" indent="-354329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title"/>
          </p:nvPr>
        </p:nvSpPr>
        <p:spPr>
          <a:xfrm>
            <a:off x="188913" y="-1"/>
            <a:ext cx="118491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body" idx="2"/>
          </p:nvPr>
        </p:nvSpPr>
        <p:spPr>
          <a:xfrm>
            <a:off x="6216645" y="996330"/>
            <a:ext cx="5821500" cy="51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35433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1pPr>
            <a:lvl2pPr marL="914400" lvl="1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2pPr>
            <a:lvl3pPr marL="1371600" lvl="2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3pPr>
            <a:lvl4pPr marL="1828800" lvl="3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4pPr>
            <a:lvl5pPr marL="2286000" lvl="4" indent="-354329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80"/>
              <a:buFont typeface="Roboto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>
        <p15:guide id="1" orient="horz" pos="392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background - 1/4 graphic right">
  <p:cSld name="qtr graphic righ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188913" y="996330"/>
            <a:ext cx="8640900" cy="51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35433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80"/>
              <a:buChar char="•"/>
              <a:defRPr/>
            </a:lvl1pPr>
            <a:lvl2pPr marL="914400" lvl="1" indent="-35433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1980"/>
              <a:buChar char="•"/>
              <a:defRPr/>
            </a:lvl2pPr>
            <a:lvl3pPr marL="1371600" lvl="2" indent="-35433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1980"/>
              <a:buChar char="•"/>
              <a:defRPr/>
            </a:lvl3pPr>
            <a:lvl4pPr marL="1828800" lvl="3" indent="-35433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1980"/>
              <a:buChar char="•"/>
              <a:defRPr/>
            </a:lvl4pPr>
            <a:lvl5pPr marL="2286000" lvl="4" indent="-354329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198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title"/>
          </p:nvPr>
        </p:nvSpPr>
        <p:spPr>
          <a:xfrm>
            <a:off x="188913" y="-1"/>
            <a:ext cx="86409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4" name="Google Shape;44;p20"/>
          <p:cNvPicPr preferRelativeResize="0"/>
          <p:nvPr/>
        </p:nvPicPr>
        <p:blipFill rotWithShape="1">
          <a:blip r:embed="rId2">
            <a:alphaModFix/>
          </a:blip>
          <a:srcRect l="27701" t="11987" r="44964"/>
          <a:stretch/>
        </p:blipFill>
        <p:spPr>
          <a:xfrm>
            <a:off x="8991600" y="0"/>
            <a:ext cx="3197225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0"/>
          <p:cNvSpPr/>
          <p:nvPr/>
        </p:nvSpPr>
        <p:spPr>
          <a:xfrm>
            <a:off x="8986400" y="0"/>
            <a:ext cx="3202500" cy="6858000"/>
          </a:xfrm>
          <a:prstGeom prst="rect">
            <a:avLst/>
          </a:prstGeom>
          <a:solidFill>
            <a:srgbClr val="004C42">
              <a:alpha val="6901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2"/>
          </p:nvPr>
        </p:nvSpPr>
        <p:spPr>
          <a:xfrm>
            <a:off x="9164638" y="996950"/>
            <a:ext cx="2835300" cy="51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000" b="1" i="0">
                <a:solidFill>
                  <a:schemeClr val="lt1"/>
                </a:solidFill>
                <a:latin typeface="Zilla Slab SemiBold"/>
                <a:ea typeface="Zilla Slab SemiBold"/>
                <a:cs typeface="Zilla Slab SemiBold"/>
                <a:sym typeface="Zilla Slab SemiBold"/>
              </a:defRPr>
            </a:lvl1pPr>
            <a:lvl2pPr marL="914400" lvl="1" indent="-35433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1980"/>
              <a:buChar char="•"/>
              <a:defRPr/>
            </a:lvl2pPr>
            <a:lvl3pPr marL="1371600" lvl="2" indent="-35433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1980"/>
              <a:buChar char="•"/>
              <a:defRPr/>
            </a:lvl3pPr>
            <a:lvl4pPr marL="1828800" lvl="3" indent="-35433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1980"/>
              <a:buChar char="•"/>
              <a:defRPr/>
            </a:lvl4pPr>
            <a:lvl5pPr marL="2286000" lvl="4" indent="-354329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198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  <p:extLst>
    <p:ext uri="{DCECCB84-F9BA-43D5-87BE-67443E8EF086}">
      <p15:sldGuideLst xmlns:p15="http://schemas.microsoft.com/office/powerpoint/2012/main">
        <p15:guide id="1" orient="horz" pos="392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background - 1/4 graphic right">
  <p:cSld name="qtr graphic right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2c72c69ba0_0_186"/>
          <p:cNvSpPr>
            <a:spLocks noGrp="1"/>
          </p:cNvSpPr>
          <p:nvPr>
            <p:ph type="pic" idx="2"/>
          </p:nvPr>
        </p:nvSpPr>
        <p:spPr>
          <a:xfrm>
            <a:off x="-7" y="0"/>
            <a:ext cx="89865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g22c72c69ba0_0_186"/>
          <p:cNvSpPr txBox="1">
            <a:spLocks noGrp="1"/>
          </p:cNvSpPr>
          <p:nvPr>
            <p:ph type="body" idx="1"/>
          </p:nvPr>
        </p:nvSpPr>
        <p:spPr>
          <a:xfrm>
            <a:off x="188913" y="996330"/>
            <a:ext cx="8640900" cy="51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35433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80"/>
              <a:buChar char="•"/>
              <a:defRPr/>
            </a:lvl1pPr>
            <a:lvl2pPr marL="914400" lvl="1" indent="-35433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1980"/>
              <a:buChar char="•"/>
              <a:defRPr/>
            </a:lvl2pPr>
            <a:lvl3pPr marL="1371600" lvl="2" indent="-35433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1980"/>
              <a:buChar char="•"/>
              <a:defRPr/>
            </a:lvl3pPr>
            <a:lvl4pPr marL="1828800" lvl="3" indent="-35433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1980"/>
              <a:buChar char="•"/>
              <a:defRPr/>
            </a:lvl4pPr>
            <a:lvl5pPr marL="2286000" lvl="4" indent="-354329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198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0" name="Google Shape;50;g22c72c69ba0_0_186"/>
          <p:cNvPicPr preferRelativeResize="0"/>
          <p:nvPr/>
        </p:nvPicPr>
        <p:blipFill rotWithShape="1">
          <a:blip r:embed="rId2">
            <a:alphaModFix/>
          </a:blip>
          <a:srcRect l="27701" t="11987" r="44964"/>
          <a:stretch/>
        </p:blipFill>
        <p:spPr>
          <a:xfrm>
            <a:off x="8991600" y="0"/>
            <a:ext cx="3197225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g22c72c69ba0_0_186"/>
          <p:cNvSpPr/>
          <p:nvPr/>
        </p:nvSpPr>
        <p:spPr>
          <a:xfrm>
            <a:off x="8986400" y="0"/>
            <a:ext cx="3202500" cy="6858000"/>
          </a:xfrm>
          <a:prstGeom prst="rect">
            <a:avLst/>
          </a:prstGeom>
          <a:solidFill>
            <a:srgbClr val="004C42">
              <a:alpha val="6901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g22c72c69ba0_0_186"/>
          <p:cNvSpPr txBox="1">
            <a:spLocks noGrp="1"/>
          </p:cNvSpPr>
          <p:nvPr>
            <p:ph type="body" idx="3"/>
          </p:nvPr>
        </p:nvSpPr>
        <p:spPr>
          <a:xfrm>
            <a:off x="9164638" y="996950"/>
            <a:ext cx="2835300" cy="51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000" b="1" i="0">
                <a:solidFill>
                  <a:schemeClr val="lt1"/>
                </a:solidFill>
                <a:latin typeface="Zilla Slab SemiBold"/>
                <a:ea typeface="Zilla Slab SemiBold"/>
                <a:cs typeface="Zilla Slab SemiBold"/>
                <a:sym typeface="Zilla Slab SemiBold"/>
              </a:defRPr>
            </a:lvl1pPr>
            <a:lvl2pPr marL="914400" lvl="1" indent="-35433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1980"/>
              <a:buChar char="•"/>
              <a:defRPr/>
            </a:lvl2pPr>
            <a:lvl3pPr marL="1371600" lvl="2" indent="-35433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1980"/>
              <a:buChar char="•"/>
              <a:defRPr/>
            </a:lvl3pPr>
            <a:lvl4pPr marL="1828800" lvl="3" indent="-35433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1980"/>
              <a:buChar char="•"/>
              <a:defRPr/>
            </a:lvl4pPr>
            <a:lvl5pPr marL="2286000" lvl="4" indent="-354329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198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g22c72c69ba0_0_186"/>
          <p:cNvSpPr txBox="1">
            <a:spLocks noGrp="1"/>
          </p:cNvSpPr>
          <p:nvPr>
            <p:ph type="title"/>
          </p:nvPr>
        </p:nvSpPr>
        <p:spPr>
          <a:xfrm>
            <a:off x="188913" y="-1"/>
            <a:ext cx="86409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background - Single column">
  <p:cSld name="CUSTOM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2c72c69ba0_0_6"/>
          <p:cNvSpPr txBox="1"/>
          <p:nvPr/>
        </p:nvSpPr>
        <p:spPr>
          <a:xfrm>
            <a:off x="9173793" y="131478"/>
            <a:ext cx="2864100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PROJECT STATUS SHEET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Date: 11/30/2022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22c72c69ba0_0_6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4C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" name="Google Shape;57;g22c72c69ba0_0_6"/>
          <p:cNvCxnSpPr/>
          <p:nvPr/>
        </p:nvCxnSpPr>
        <p:spPr>
          <a:xfrm>
            <a:off x="188913" y="726687"/>
            <a:ext cx="118491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8" name="Google Shape;58;g22c72c69ba0_0_6"/>
          <p:cNvSpPr txBox="1"/>
          <p:nvPr/>
        </p:nvSpPr>
        <p:spPr>
          <a:xfrm>
            <a:off x="-2" y="6355075"/>
            <a:ext cx="56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2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" name="Google Shape;59;g22c72c69ba0_0_6"/>
          <p:cNvCxnSpPr/>
          <p:nvPr/>
        </p:nvCxnSpPr>
        <p:spPr>
          <a:xfrm>
            <a:off x="531811" y="6287718"/>
            <a:ext cx="0" cy="459900"/>
          </a:xfrm>
          <a:prstGeom prst="straightConnector1">
            <a:avLst/>
          </a:prstGeom>
          <a:noFill/>
          <a:ln w="9525" cap="flat" cmpd="sng">
            <a:solidFill>
              <a:srgbClr val="FFCE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0" name="Google Shape;60;g22c72c69ba0_0_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2648" y="6309360"/>
            <a:ext cx="1664210" cy="41147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2c72c69ba0_0_6"/>
          <p:cNvSpPr txBox="1">
            <a:spLocks noGrp="1"/>
          </p:cNvSpPr>
          <p:nvPr>
            <p:ph type="title"/>
          </p:nvPr>
        </p:nvSpPr>
        <p:spPr>
          <a:xfrm>
            <a:off x="188913" y="-1"/>
            <a:ext cx="86409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22c72c69ba0_0_6"/>
          <p:cNvSpPr txBox="1">
            <a:spLocks noGrp="1"/>
          </p:cNvSpPr>
          <p:nvPr>
            <p:ph type="body" idx="1"/>
          </p:nvPr>
        </p:nvSpPr>
        <p:spPr>
          <a:xfrm>
            <a:off x="188913" y="996330"/>
            <a:ext cx="11849100" cy="51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35433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1pPr>
            <a:lvl2pPr marL="914400" lvl="1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2pPr>
            <a:lvl3pPr marL="1371600" lvl="2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3pPr>
            <a:lvl4pPr marL="1828800" lvl="3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4pPr>
            <a:lvl5pPr marL="2286000" lvl="4" indent="-354329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•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•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•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•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background - Single column - 2 line headline 1">
  <p:cSld name="title and content full_1_1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30bab91136_0_43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4C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g230bab91136_0_43"/>
          <p:cNvSpPr txBox="1"/>
          <p:nvPr/>
        </p:nvSpPr>
        <p:spPr>
          <a:xfrm>
            <a:off x="-2" y="6355075"/>
            <a:ext cx="56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2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" name="Google Shape;66;g230bab91136_0_43"/>
          <p:cNvCxnSpPr/>
          <p:nvPr/>
        </p:nvCxnSpPr>
        <p:spPr>
          <a:xfrm>
            <a:off x="531811" y="6287718"/>
            <a:ext cx="0" cy="459900"/>
          </a:xfrm>
          <a:prstGeom prst="straightConnector1">
            <a:avLst/>
          </a:prstGeom>
          <a:noFill/>
          <a:ln w="9525" cap="flat" cmpd="sng">
            <a:solidFill>
              <a:srgbClr val="FFCE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7" name="Google Shape;67;g230bab91136_0_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2648" y="6309360"/>
            <a:ext cx="1664210" cy="41147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g230bab91136_0_43"/>
          <p:cNvSpPr/>
          <p:nvPr/>
        </p:nvSpPr>
        <p:spPr>
          <a:xfrm>
            <a:off x="163050" y="657175"/>
            <a:ext cx="11950200" cy="132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230bab91136_0_43"/>
          <p:cNvSpPr txBox="1">
            <a:spLocks noGrp="1"/>
          </p:cNvSpPr>
          <p:nvPr>
            <p:ph type="body" idx="1"/>
          </p:nvPr>
        </p:nvSpPr>
        <p:spPr>
          <a:xfrm>
            <a:off x="188913" y="1377330"/>
            <a:ext cx="11849100" cy="51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35433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1pPr>
            <a:lvl2pPr marL="914400" lvl="1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2pPr>
            <a:lvl3pPr marL="1371600" lvl="2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3pPr>
            <a:lvl4pPr marL="1828800" lvl="3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4pPr>
            <a:lvl5pPr marL="2286000" lvl="4" indent="-354329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•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•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•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•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0" name="Google Shape;70;g230bab91136_0_43"/>
          <p:cNvSpPr txBox="1">
            <a:spLocks noGrp="1"/>
          </p:cNvSpPr>
          <p:nvPr>
            <p:ph type="title"/>
          </p:nvPr>
        </p:nvSpPr>
        <p:spPr>
          <a:xfrm>
            <a:off x="188925" y="0"/>
            <a:ext cx="11849100" cy="10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71" name="Google Shape;71;g230bab91136_0_43"/>
          <p:cNvCxnSpPr/>
          <p:nvPr/>
        </p:nvCxnSpPr>
        <p:spPr>
          <a:xfrm>
            <a:off x="188913" y="1128067"/>
            <a:ext cx="118491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background - Two columns">
  <p:cSld name="CUSTOM_4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2c72c69ba0_0_97"/>
          <p:cNvSpPr txBox="1"/>
          <p:nvPr/>
        </p:nvSpPr>
        <p:spPr>
          <a:xfrm>
            <a:off x="9173793" y="131478"/>
            <a:ext cx="2864100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PROJECT STATUS SHEET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Date: 11/30/2022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22c72c69ba0_0_97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4C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g22c72c69ba0_0_97"/>
          <p:cNvCxnSpPr/>
          <p:nvPr/>
        </p:nvCxnSpPr>
        <p:spPr>
          <a:xfrm>
            <a:off x="188913" y="726687"/>
            <a:ext cx="118491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6" name="Google Shape;76;g22c72c69ba0_0_97"/>
          <p:cNvSpPr txBox="1"/>
          <p:nvPr/>
        </p:nvSpPr>
        <p:spPr>
          <a:xfrm>
            <a:off x="-2" y="6355075"/>
            <a:ext cx="56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2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" name="Google Shape;77;g22c72c69ba0_0_97"/>
          <p:cNvCxnSpPr/>
          <p:nvPr/>
        </p:nvCxnSpPr>
        <p:spPr>
          <a:xfrm>
            <a:off x="531811" y="6287718"/>
            <a:ext cx="0" cy="459900"/>
          </a:xfrm>
          <a:prstGeom prst="straightConnector1">
            <a:avLst/>
          </a:prstGeom>
          <a:noFill/>
          <a:ln w="9525" cap="flat" cmpd="sng">
            <a:solidFill>
              <a:srgbClr val="FFCE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78" name="Google Shape;78;g22c72c69ba0_0_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2648" y="6309360"/>
            <a:ext cx="1664210" cy="41147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g22c72c69ba0_0_97"/>
          <p:cNvSpPr txBox="1">
            <a:spLocks noGrp="1"/>
          </p:cNvSpPr>
          <p:nvPr>
            <p:ph type="title"/>
          </p:nvPr>
        </p:nvSpPr>
        <p:spPr>
          <a:xfrm>
            <a:off x="188913" y="-1"/>
            <a:ext cx="86409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g22c72c69ba0_0_97"/>
          <p:cNvSpPr txBox="1">
            <a:spLocks noGrp="1"/>
          </p:cNvSpPr>
          <p:nvPr>
            <p:ph type="body" idx="1"/>
          </p:nvPr>
        </p:nvSpPr>
        <p:spPr>
          <a:xfrm>
            <a:off x="188913" y="996330"/>
            <a:ext cx="5797500" cy="51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35433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1pPr>
            <a:lvl2pPr marL="914400" lvl="1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2pPr>
            <a:lvl3pPr marL="1371600" lvl="2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3pPr>
            <a:lvl4pPr marL="1828800" lvl="3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4pPr>
            <a:lvl5pPr marL="2286000" lvl="4" indent="-354329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•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•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•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•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1" name="Google Shape;81;g22c72c69ba0_0_97"/>
          <p:cNvSpPr txBox="1">
            <a:spLocks noGrp="1"/>
          </p:cNvSpPr>
          <p:nvPr>
            <p:ph type="body" idx="2"/>
          </p:nvPr>
        </p:nvSpPr>
        <p:spPr>
          <a:xfrm>
            <a:off x="6216645" y="996330"/>
            <a:ext cx="5821500" cy="51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35433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1pPr>
            <a:lvl2pPr marL="914400" lvl="1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2pPr>
            <a:lvl3pPr marL="1371600" lvl="2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3pPr>
            <a:lvl4pPr marL="1828800" lvl="3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4pPr>
            <a:lvl5pPr marL="2286000" lvl="4" indent="-354329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•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•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•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•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background - 1/2 photo">
  <p:cSld name="CUSTOM_4_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c72c69ba0_0_118"/>
          <p:cNvSpPr txBox="1"/>
          <p:nvPr/>
        </p:nvSpPr>
        <p:spPr>
          <a:xfrm>
            <a:off x="9173793" y="131478"/>
            <a:ext cx="2864100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PROJECT STATUS SHEET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Date: 11/30/2022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22c72c69ba0_0_118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4C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g22c72c69ba0_0_118"/>
          <p:cNvCxnSpPr/>
          <p:nvPr/>
        </p:nvCxnSpPr>
        <p:spPr>
          <a:xfrm>
            <a:off x="188913" y="726687"/>
            <a:ext cx="118491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6" name="Google Shape;86;g22c72c69ba0_0_118"/>
          <p:cNvSpPr txBox="1"/>
          <p:nvPr/>
        </p:nvSpPr>
        <p:spPr>
          <a:xfrm>
            <a:off x="-2" y="6355075"/>
            <a:ext cx="56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2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" name="Google Shape;87;g22c72c69ba0_0_118"/>
          <p:cNvCxnSpPr/>
          <p:nvPr/>
        </p:nvCxnSpPr>
        <p:spPr>
          <a:xfrm>
            <a:off x="531811" y="6287718"/>
            <a:ext cx="0" cy="459900"/>
          </a:xfrm>
          <a:prstGeom prst="straightConnector1">
            <a:avLst/>
          </a:prstGeom>
          <a:noFill/>
          <a:ln w="9525" cap="flat" cmpd="sng">
            <a:solidFill>
              <a:srgbClr val="FFCE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8" name="Google Shape;88;g22c72c69ba0_0_1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2648" y="6309360"/>
            <a:ext cx="1664210" cy="41147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22c72c69ba0_0_118"/>
          <p:cNvSpPr txBox="1">
            <a:spLocks noGrp="1"/>
          </p:cNvSpPr>
          <p:nvPr>
            <p:ph type="title"/>
          </p:nvPr>
        </p:nvSpPr>
        <p:spPr>
          <a:xfrm>
            <a:off x="188913" y="-1"/>
            <a:ext cx="86409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g22c72c69ba0_0_118"/>
          <p:cNvSpPr txBox="1">
            <a:spLocks noGrp="1"/>
          </p:cNvSpPr>
          <p:nvPr>
            <p:ph type="body" idx="1"/>
          </p:nvPr>
        </p:nvSpPr>
        <p:spPr>
          <a:xfrm>
            <a:off x="188913" y="996330"/>
            <a:ext cx="5797500" cy="51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35433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1pPr>
            <a:lvl2pPr marL="914400" lvl="1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2pPr>
            <a:lvl3pPr marL="1371600" lvl="2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3pPr>
            <a:lvl4pPr marL="1828800" lvl="3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4pPr>
            <a:lvl5pPr marL="2286000" lvl="4" indent="-354329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•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•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•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•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1" name="Google Shape;91;g22c72c69ba0_0_118"/>
          <p:cNvSpPr>
            <a:spLocks noGrp="1"/>
          </p:cNvSpPr>
          <p:nvPr>
            <p:ph type="pic" idx="2"/>
          </p:nvPr>
        </p:nvSpPr>
        <p:spPr>
          <a:xfrm>
            <a:off x="6283326" y="0"/>
            <a:ext cx="59055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background - 1/3 photo">
  <p:cSld name="CUSTOM_4_1_1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2c72c69ba0_0_140"/>
          <p:cNvSpPr txBox="1"/>
          <p:nvPr/>
        </p:nvSpPr>
        <p:spPr>
          <a:xfrm>
            <a:off x="9173793" y="131478"/>
            <a:ext cx="2864100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PROJECT STATUS SHEET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Date: 11/30/2022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22c72c69ba0_0_140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4C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g22c72c69ba0_0_140"/>
          <p:cNvCxnSpPr/>
          <p:nvPr/>
        </p:nvCxnSpPr>
        <p:spPr>
          <a:xfrm>
            <a:off x="188913" y="726687"/>
            <a:ext cx="118491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g22c72c69ba0_0_140"/>
          <p:cNvSpPr txBox="1"/>
          <p:nvPr/>
        </p:nvSpPr>
        <p:spPr>
          <a:xfrm>
            <a:off x="-2" y="6355075"/>
            <a:ext cx="56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2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" name="Google Shape;97;g22c72c69ba0_0_140"/>
          <p:cNvCxnSpPr/>
          <p:nvPr/>
        </p:nvCxnSpPr>
        <p:spPr>
          <a:xfrm>
            <a:off x="531811" y="6287718"/>
            <a:ext cx="0" cy="459900"/>
          </a:xfrm>
          <a:prstGeom prst="straightConnector1">
            <a:avLst/>
          </a:prstGeom>
          <a:noFill/>
          <a:ln w="9525" cap="flat" cmpd="sng">
            <a:solidFill>
              <a:srgbClr val="FFCE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8" name="Google Shape;98;g22c72c69ba0_0_1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2648" y="6309360"/>
            <a:ext cx="1664210" cy="41147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22c72c69ba0_0_140"/>
          <p:cNvSpPr txBox="1">
            <a:spLocks noGrp="1"/>
          </p:cNvSpPr>
          <p:nvPr>
            <p:ph type="title"/>
          </p:nvPr>
        </p:nvSpPr>
        <p:spPr>
          <a:xfrm>
            <a:off x="188913" y="-1"/>
            <a:ext cx="86409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g22c72c69ba0_0_140"/>
          <p:cNvSpPr txBox="1">
            <a:spLocks noGrp="1"/>
          </p:cNvSpPr>
          <p:nvPr>
            <p:ph type="body" idx="1"/>
          </p:nvPr>
        </p:nvSpPr>
        <p:spPr>
          <a:xfrm>
            <a:off x="188913" y="996330"/>
            <a:ext cx="5797500" cy="51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35433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1pPr>
            <a:lvl2pPr marL="914400" lvl="1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2pPr>
            <a:lvl3pPr marL="1371600" lvl="2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3pPr>
            <a:lvl4pPr marL="1828800" lvl="3" indent="-35433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4pPr>
            <a:lvl5pPr marL="2286000" lvl="4" indent="-354329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980"/>
              <a:buFont typeface="Roboto"/>
              <a:buChar char="•"/>
              <a:defRPr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•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•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•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•"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1" name="Google Shape;101;g22c72c69ba0_0_140"/>
          <p:cNvSpPr>
            <a:spLocks noGrp="1"/>
          </p:cNvSpPr>
          <p:nvPr>
            <p:ph type="pic" idx="2"/>
          </p:nvPr>
        </p:nvSpPr>
        <p:spPr>
          <a:xfrm>
            <a:off x="8172450" y="0"/>
            <a:ext cx="40164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background - No content 1">
  <p:cSld name="CUSTOM_3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2c72c69ba0_0_77"/>
          <p:cNvSpPr txBox="1"/>
          <p:nvPr/>
        </p:nvSpPr>
        <p:spPr>
          <a:xfrm>
            <a:off x="9173793" y="131478"/>
            <a:ext cx="2864100" cy="6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PROJECT STATUS SHEET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Date: 11/30/2022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22c72c69ba0_0_77"/>
          <p:cNvSpPr/>
          <p:nvPr/>
        </p:nvSpPr>
        <p:spPr>
          <a:xfrm>
            <a:off x="0" y="0"/>
            <a:ext cx="121887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4C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" name="Google Shape;105;g22c72c69ba0_0_77"/>
          <p:cNvCxnSpPr/>
          <p:nvPr/>
        </p:nvCxnSpPr>
        <p:spPr>
          <a:xfrm>
            <a:off x="188913" y="726687"/>
            <a:ext cx="118491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6" name="Google Shape;106;g22c72c69ba0_0_77"/>
          <p:cNvSpPr txBox="1"/>
          <p:nvPr/>
        </p:nvSpPr>
        <p:spPr>
          <a:xfrm>
            <a:off x="-2" y="6355075"/>
            <a:ext cx="56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2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" name="Google Shape;107;g22c72c69ba0_0_77"/>
          <p:cNvCxnSpPr/>
          <p:nvPr/>
        </p:nvCxnSpPr>
        <p:spPr>
          <a:xfrm>
            <a:off x="531811" y="6287718"/>
            <a:ext cx="0" cy="459900"/>
          </a:xfrm>
          <a:prstGeom prst="straightConnector1">
            <a:avLst/>
          </a:prstGeom>
          <a:noFill/>
          <a:ln w="9525" cap="flat" cmpd="sng">
            <a:solidFill>
              <a:srgbClr val="FFCE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8" name="Google Shape;108;g22c72c69ba0_0_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2648" y="6309360"/>
            <a:ext cx="1664210" cy="41147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22c72c69ba0_0_77"/>
          <p:cNvSpPr txBox="1">
            <a:spLocks noGrp="1"/>
          </p:cNvSpPr>
          <p:nvPr>
            <p:ph type="title"/>
          </p:nvPr>
        </p:nvSpPr>
        <p:spPr>
          <a:xfrm>
            <a:off x="188913" y="-1"/>
            <a:ext cx="86409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188913" y="996330"/>
            <a:ext cx="11849100" cy="51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marR="0" lvl="0" indent="-3962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40"/>
              <a:buFont typeface="Roboto"/>
              <a:buChar char="•"/>
              <a:defRPr sz="2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5433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Roboto"/>
              <a:buChar char="•"/>
              <a:defRPr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433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Roboto"/>
              <a:buChar char="•"/>
              <a:defRPr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036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760"/>
              <a:buFont typeface="Roboto"/>
              <a:buChar char="•"/>
              <a:defRPr sz="16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036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760"/>
              <a:buFont typeface="Roboto"/>
              <a:buChar char="•"/>
              <a:defRPr sz="16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2925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Roboto"/>
              <a:buChar char="•"/>
              <a:defRPr sz="1013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2925" algn="l" rtl="0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Roboto"/>
              <a:buChar char="•"/>
              <a:defRPr sz="1013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2925" algn="l" rtl="0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Roboto"/>
              <a:buChar char="•"/>
              <a:defRPr sz="1013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2925" algn="l" rtl="0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Roboto"/>
              <a:buChar char="•"/>
              <a:defRPr sz="1013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title"/>
          </p:nvPr>
        </p:nvSpPr>
        <p:spPr>
          <a:xfrm>
            <a:off x="188913" y="-1"/>
            <a:ext cx="118491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9" name="Google Shape;9;p12"/>
          <p:cNvCxnSpPr/>
          <p:nvPr/>
        </p:nvCxnSpPr>
        <p:spPr>
          <a:xfrm>
            <a:off x="188913" y="726687"/>
            <a:ext cx="118491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" name="Google Shape;10;p12"/>
          <p:cNvCxnSpPr/>
          <p:nvPr/>
        </p:nvCxnSpPr>
        <p:spPr>
          <a:xfrm>
            <a:off x="531811" y="6287718"/>
            <a:ext cx="0" cy="4599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1" name="Google Shape;11;p12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11826" y="6306827"/>
            <a:ext cx="1662545" cy="41276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2"/>
          <p:cNvSpPr txBox="1"/>
          <p:nvPr/>
        </p:nvSpPr>
        <p:spPr>
          <a:xfrm>
            <a:off x="-2" y="6355075"/>
            <a:ext cx="56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2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7583">
          <p15:clr>
            <a:srgbClr val="F26B43"/>
          </p15:clr>
        </p15:guide>
        <p15:guide id="2" pos="11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mpetitions/playground-series-s4e2/data?select=train.csv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stor.org/stable/2280095" TargetMode="External"/><Relationship Id="rId2" Type="http://schemas.openxmlformats.org/officeDocument/2006/relationships/hyperlink" Target="https://www.itl.nist.gov/div898/handbook/eda/section3/eda35g.htm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scikit-learn.org/stable/modules/generated/sklearn.ensemble.RandomForestClassifier.html" TargetMode="External"/><Relationship Id="rId4" Type="http://schemas.openxmlformats.org/officeDocument/2006/relationships/hyperlink" Target="https://www.spss-tutorials.com/cramers-v-what-and-why/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6D5399F-A55E-6043-0E6F-797A455D87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/>
              <a:t>IA650 – Fall 2024</a:t>
            </a:r>
          </a:p>
          <a:p>
            <a:pPr algn="r"/>
            <a:r>
              <a:rPr lang="en-IN" dirty="0"/>
              <a:t>Sagar Bangera</a:t>
            </a:r>
          </a:p>
          <a:p>
            <a:pPr algn="r"/>
            <a:r>
              <a:rPr lang="en-IN" dirty="0"/>
              <a:t>Nikhil Chhatraband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7572C2-2F7A-888B-3CDB-6DD1C447D0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Data Mining for Health: Investigating Weight Categories and Contributing Factors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4440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0ebc272483_0_0"/>
          <p:cNvSpPr txBox="1">
            <a:spLocks noGrp="1"/>
          </p:cNvSpPr>
          <p:nvPr>
            <p:ph type="body" idx="1"/>
          </p:nvPr>
        </p:nvSpPr>
        <p:spPr>
          <a:xfrm>
            <a:off x="188913" y="1377330"/>
            <a:ext cx="11849100" cy="51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342900" indent="-342900"/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Obesity is recognized as one of the leading public health concerns worldwide.</a:t>
            </a:r>
          </a:p>
          <a:p>
            <a:pPr marL="342900" indent="-342900"/>
            <a:endParaRPr lang="en-US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pPr marL="342900" indent="-342900"/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Over </a:t>
            </a:r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1.9 billion adults</a:t>
            </a: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 worldwide were overweight in 2022, with </a:t>
            </a:r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650 million</a:t>
            </a: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 classified as obese (World Health Organization).</a:t>
            </a:r>
          </a:p>
          <a:p>
            <a:pPr marL="342900" indent="-342900"/>
            <a:endParaRPr lang="en-US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pPr marL="342900" indent="-342900"/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Obesity is linked to over </a:t>
            </a:r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200 health complications</a:t>
            </a: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, including diabetes and heart disease.</a:t>
            </a:r>
          </a:p>
          <a:p>
            <a:pPr marL="342900" indent="-342900"/>
            <a:endParaRPr lang="en-US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pPr marL="342900" indent="-342900"/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Identifying obesity trends isn’t just about numbers—it's about empowering </a:t>
            </a:r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preventive healthcare</a:t>
            </a: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.</a:t>
            </a:r>
          </a:p>
          <a:p>
            <a:pPr marL="342900" indent="-342900"/>
            <a:endParaRPr lang="en-US" dirty="0">
              <a:solidFill>
                <a:srgbClr val="0D0D0D"/>
              </a:solidFill>
              <a:latin typeface="Segoe UI Variable Text" pitchFamily="2" charset="0"/>
            </a:endParaRPr>
          </a:p>
          <a:p>
            <a:pPr marL="342900" indent="-342900"/>
            <a:r>
              <a:rPr lang="en-IN" dirty="0"/>
              <a:t>This data is available at </a:t>
            </a:r>
            <a:r>
              <a:rPr lang="en-IN" dirty="0">
                <a:hlinkClick r:id="rId3"/>
              </a:rPr>
              <a:t>https://www.kaggle.com/competitions/playground-series-s4e2/data?select=train.csv</a:t>
            </a:r>
            <a:endParaRPr lang="en-IN" dirty="0"/>
          </a:p>
          <a:p>
            <a:pPr marL="342900" indent="-342900"/>
            <a:endParaRPr lang="en-US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pPr marL="342900" indent="-342900"/>
            <a:endParaRPr dirty="0"/>
          </a:p>
        </p:txBody>
      </p:sp>
      <p:sp>
        <p:nvSpPr>
          <p:cNvPr id="143" name="Google Shape;143;g30ebc272483_0_0"/>
          <p:cNvSpPr txBox="1">
            <a:spLocks noGrp="1"/>
          </p:cNvSpPr>
          <p:nvPr>
            <p:ph type="title"/>
          </p:nvPr>
        </p:nvSpPr>
        <p:spPr>
          <a:xfrm>
            <a:off x="188925" y="0"/>
            <a:ext cx="11849100" cy="10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 dirty="0"/>
              <a:t>Introduction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0ACC84-9CB2-2D02-7C27-3CDEB1A25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9862" y="1722900"/>
            <a:ext cx="11849100" cy="5135100"/>
          </a:xfrm>
        </p:spPr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To analyze lifestyle and demographic factors influencing obesity levels.</a:t>
            </a:r>
          </a:p>
          <a:p>
            <a:endParaRPr lang="en-US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Examine the relationship between dietary habits, physical activity, and obesity.</a:t>
            </a:r>
          </a:p>
          <a:p>
            <a:endParaRPr lang="en-US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Use smart models to figure out if it's the </a:t>
            </a:r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calories</a:t>
            </a: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 or the </a:t>
            </a:r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Netflix marathons</a:t>
            </a: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 that matter more.</a:t>
            </a:r>
          </a:p>
          <a:p>
            <a:endParaRPr lang="en-US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Turn data into insights that can help us all make healthier (and happier!) choices.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7FD4DD-0045-8559-8695-82D73E675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</p:spTree>
    <p:extLst>
      <p:ext uri="{BB962C8B-B14F-4D97-AF65-F5344CB8AC3E}">
        <p14:creationId xmlns:p14="http://schemas.microsoft.com/office/powerpoint/2010/main" val="4076125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43931-E6E4-3C3F-35A7-7E145A673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B0E174-0F32-CB24-36E6-83A025147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source &amp; Variables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53E9AD-EB7C-6098-8653-4377F9FC7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014046"/>
              </p:ext>
            </p:extLst>
          </p:nvPr>
        </p:nvGraphicFramePr>
        <p:xfrm>
          <a:off x="2396416" y="818147"/>
          <a:ext cx="8415963" cy="5927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7479">
                  <a:extLst>
                    <a:ext uri="{9D8B030D-6E8A-4147-A177-3AD203B41FA5}">
                      <a16:colId xmlns:a16="http://schemas.microsoft.com/office/drawing/2014/main" val="1131361402"/>
                    </a:ext>
                  </a:extLst>
                </a:gridCol>
                <a:gridCol w="4026568">
                  <a:extLst>
                    <a:ext uri="{9D8B030D-6E8A-4147-A177-3AD203B41FA5}">
                      <a16:colId xmlns:a16="http://schemas.microsoft.com/office/drawing/2014/main" val="2117637833"/>
                    </a:ext>
                  </a:extLst>
                </a:gridCol>
                <a:gridCol w="1491916">
                  <a:extLst>
                    <a:ext uri="{9D8B030D-6E8A-4147-A177-3AD203B41FA5}">
                      <a16:colId xmlns:a16="http://schemas.microsoft.com/office/drawing/2014/main" val="2954686472"/>
                    </a:ext>
                  </a:extLst>
                </a:gridCol>
              </a:tblGrid>
              <a:tr h="192853">
                <a:tc>
                  <a:txBody>
                    <a:bodyPr/>
                    <a:lstStyle/>
                    <a:p>
                      <a:r>
                        <a:rPr lang="en-IN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607538"/>
                  </a:ext>
                </a:extLst>
              </a:tr>
              <a:tr h="291118">
                <a:tc>
                  <a:txBody>
                    <a:bodyPr/>
                    <a:lstStyle/>
                    <a:p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Unique identifier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None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837801"/>
                  </a:ext>
                </a:extLst>
              </a:tr>
              <a:tr h="291118">
                <a:tc>
                  <a:txBody>
                    <a:bodyPr/>
                    <a:lstStyle/>
                    <a:p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Gender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Gender of the individual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Male/Female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418009"/>
                  </a:ext>
                </a:extLst>
              </a:tr>
              <a:tr h="291118">
                <a:tc>
                  <a:txBody>
                    <a:bodyPr/>
                    <a:lstStyle/>
                    <a:p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 Age of the individual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Years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711751"/>
                  </a:ext>
                </a:extLst>
              </a:tr>
              <a:tr h="291118">
                <a:tc>
                  <a:txBody>
                    <a:bodyPr/>
                    <a:lstStyle/>
                    <a:p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Height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Height of the individual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Centimetres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14762"/>
                  </a:ext>
                </a:extLst>
              </a:tr>
              <a:tr h="291118">
                <a:tc>
                  <a:txBody>
                    <a:bodyPr/>
                    <a:lstStyle/>
                    <a:p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Weight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Weight of the individual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Kilograms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072313"/>
                  </a:ext>
                </a:extLst>
              </a:tr>
              <a:tr h="350290">
                <a:tc>
                  <a:txBody>
                    <a:bodyPr/>
                    <a:lstStyle/>
                    <a:p>
                      <a:r>
                        <a:rPr lang="en-IN" b="1" i="0" dirty="0" err="1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family_history_with_overweight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Family history of being overweight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Yes/No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888443"/>
                  </a:ext>
                </a:extLst>
              </a:tr>
              <a:tr h="350290">
                <a:tc>
                  <a:txBody>
                    <a:bodyPr/>
                    <a:lstStyle/>
                    <a:p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FAVC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Frequent consumption of high-calorie food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Yes/No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558909"/>
                  </a:ext>
                </a:extLst>
              </a:tr>
              <a:tr h="350290">
                <a:tc>
                  <a:txBody>
                    <a:bodyPr/>
                    <a:lstStyle/>
                    <a:p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FCVC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Frequency of vegetable consumption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Scale (1–3)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869412"/>
                  </a:ext>
                </a:extLst>
              </a:tr>
              <a:tr h="494900">
                <a:tc>
                  <a:txBody>
                    <a:bodyPr/>
                    <a:lstStyle/>
                    <a:p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NCP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Number of main meals consumed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Scale (1–4)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428735"/>
                  </a:ext>
                </a:extLst>
              </a:tr>
              <a:tr h="350290">
                <a:tc>
                  <a:txBody>
                    <a:bodyPr/>
                    <a:lstStyle/>
                    <a:p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CAEC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Consumption of food between meals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Categories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387827"/>
                  </a:ext>
                </a:extLst>
              </a:tr>
              <a:tr h="291118">
                <a:tc>
                  <a:txBody>
                    <a:bodyPr/>
                    <a:lstStyle/>
                    <a:p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SMOKE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Smoking habits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Yes/No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212182"/>
                  </a:ext>
                </a:extLst>
              </a:tr>
              <a:tr h="291118">
                <a:tc>
                  <a:txBody>
                    <a:bodyPr/>
                    <a:lstStyle/>
                    <a:p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CH2O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Daily water intake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Scale (1–3)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049465"/>
                  </a:ext>
                </a:extLst>
              </a:tr>
              <a:tr h="350290">
                <a:tc>
                  <a:txBody>
                    <a:bodyPr/>
                    <a:lstStyle/>
                    <a:p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SCC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Skipping Caloric Consumption (skipping meals)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Yes/No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425185"/>
                  </a:ext>
                </a:extLst>
              </a:tr>
              <a:tr h="291118">
                <a:tc>
                  <a:txBody>
                    <a:bodyPr/>
                    <a:lstStyle/>
                    <a:p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FAF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Physical activity frequency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Scale (0–4)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712763"/>
                  </a:ext>
                </a:extLst>
              </a:tr>
              <a:tr h="291118">
                <a:tc>
                  <a:txBody>
                    <a:bodyPr/>
                    <a:lstStyle/>
                    <a:p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TUE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Time spent using technology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Scale (0–2)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712799"/>
                  </a:ext>
                </a:extLst>
              </a:tr>
              <a:tr h="291118">
                <a:tc>
                  <a:txBody>
                    <a:bodyPr/>
                    <a:lstStyle/>
                    <a:p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CALC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Alcohol consumption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Categories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391379"/>
                  </a:ext>
                </a:extLst>
              </a:tr>
              <a:tr h="291118">
                <a:tc>
                  <a:txBody>
                    <a:bodyPr/>
                    <a:lstStyle/>
                    <a:p>
                      <a:r>
                        <a:rPr lang="en-IN" b="1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MTRANS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Mode of transportation used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rgbClr val="0D0D0D"/>
                          </a:solidFill>
                          <a:effectLst/>
                          <a:latin typeface="Segoe UI Variable Text" pitchFamily="2" charset="0"/>
                        </a:rPr>
                        <a:t>Categories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896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161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A04F0D-3925-A44D-6D49-7DFEE897C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Visualizations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9A9EDA-F9C8-4BDE-B908-9DF1B3364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29" y="1873857"/>
            <a:ext cx="5617515" cy="35038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9A69A6-280F-CF19-730D-D46068C3FA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7580" y="1873857"/>
            <a:ext cx="5617516" cy="350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85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73072-9DA6-82BB-1740-430D0CCA0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09998C-687E-C4D9-B2CF-26EE5F596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Visualizations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307ABB-83F6-419A-566E-456E4A45E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67" y="1662444"/>
            <a:ext cx="5465314" cy="33799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7A776E-960A-839C-2524-F2D2FC0E2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044" y="1662444"/>
            <a:ext cx="5465314" cy="33799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CFA537-71B6-4A6F-B61A-6C8FC697BC9E}"/>
              </a:ext>
            </a:extLst>
          </p:cNvPr>
          <p:cNvSpPr txBox="1"/>
          <p:nvPr/>
        </p:nvSpPr>
        <p:spPr>
          <a:xfrm>
            <a:off x="754190" y="5287752"/>
            <a:ext cx="43708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Even with longer heights the number of men having weight more than 120 is lesser compare to female.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31FB31-2AF5-2E76-289E-F42A9D902287}"/>
              </a:ext>
            </a:extLst>
          </p:cNvPr>
          <p:cNvSpPr txBox="1"/>
          <p:nvPr/>
        </p:nvSpPr>
        <p:spPr>
          <a:xfrm>
            <a:off x="6871779" y="5363891"/>
            <a:ext cx="4562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weights are not normally distributed in the dataset.</a:t>
            </a:r>
          </a:p>
        </p:txBody>
      </p:sp>
    </p:spTree>
    <p:extLst>
      <p:ext uri="{BB962C8B-B14F-4D97-AF65-F5344CB8AC3E}">
        <p14:creationId xmlns:p14="http://schemas.microsoft.com/office/powerpoint/2010/main" val="296008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684079E-A48B-D97F-52A6-8848B67B1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9862" y="1594563"/>
            <a:ext cx="11849100" cy="4164552"/>
          </a:xfrm>
        </p:spPr>
        <p:txBody>
          <a:bodyPr/>
          <a:lstStyle/>
          <a:p>
            <a:r>
              <a:rPr lang="en-US" dirty="0"/>
              <a:t>Used to test if data is normally distributed, which is a common assumption for many statistical tests.</a:t>
            </a:r>
          </a:p>
          <a:p>
            <a:endParaRPr lang="en-IN" dirty="0"/>
          </a:p>
          <a:p>
            <a:r>
              <a:rPr lang="en-IN" dirty="0"/>
              <a:t>data:  </a:t>
            </a:r>
            <a:r>
              <a:rPr lang="en-IN" dirty="0" err="1"/>
              <a:t>data$Weight</a:t>
            </a:r>
            <a:endParaRPr lang="en-IN" dirty="0"/>
          </a:p>
          <a:p>
            <a:pPr marL="102870" indent="0">
              <a:buNone/>
            </a:pPr>
            <a:r>
              <a:rPr lang="en-IN" dirty="0"/>
              <a:t>     D = 0.091, p-value = 2.2e-16</a:t>
            </a:r>
          </a:p>
          <a:p>
            <a:endParaRPr lang="en-IN" dirty="0"/>
          </a:p>
          <a:p>
            <a:r>
              <a:rPr lang="en-US" dirty="0"/>
              <a:t>D is the maximum deviation between the cumulative distribution functions (CDF) of your data and the specified normal distribution.</a:t>
            </a:r>
          </a:p>
          <a:p>
            <a:endParaRPr lang="en-US" dirty="0"/>
          </a:p>
          <a:p>
            <a:r>
              <a:rPr lang="en-US" dirty="0"/>
              <a:t>The data can be termed normal if D value is 0 and p-value is small.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E6A1C9-8F74-FC5B-E541-DD0BF317A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Kolmogorov-Smirnov test</a:t>
            </a:r>
          </a:p>
        </p:txBody>
      </p:sp>
    </p:spTree>
    <p:extLst>
      <p:ext uri="{BB962C8B-B14F-4D97-AF65-F5344CB8AC3E}">
        <p14:creationId xmlns:p14="http://schemas.microsoft.com/office/powerpoint/2010/main" val="2336058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5528BE-74BD-1332-BE8B-6B7842975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Correlation Plot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CD3392-2FFB-3B26-BD19-3806454D637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13463" y="1965959"/>
            <a:ext cx="5864988" cy="3337561"/>
          </a:xfrm>
        </p:spPr>
        <p:txBody>
          <a:bodyPr/>
          <a:lstStyle/>
          <a:p>
            <a:r>
              <a:rPr lang="en-US" dirty="0"/>
              <a:t>Height and weight have a significant positive correlation.</a:t>
            </a:r>
          </a:p>
          <a:p>
            <a:endParaRPr lang="en-US" dirty="0"/>
          </a:p>
          <a:p>
            <a:r>
              <a:rPr lang="en-US" dirty="0"/>
              <a:t>Age appears to have a mixed relationship with various factors..</a:t>
            </a:r>
          </a:p>
          <a:p>
            <a:endParaRPr lang="en-US" dirty="0"/>
          </a:p>
          <a:p>
            <a:r>
              <a:rPr lang="en-US" dirty="0"/>
              <a:t>Most of the other correlations are weak.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837BBC-AE40-B897-7B46-087DB3227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425" y="1743776"/>
            <a:ext cx="5755987" cy="355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813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BCF36B-1460-F003-E19E-E144CA4D3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8925" y="3693554"/>
            <a:ext cx="11685100" cy="1580148"/>
          </a:xfrm>
        </p:spPr>
        <p:txBody>
          <a:bodyPr/>
          <a:lstStyle/>
          <a:p>
            <a:r>
              <a:rPr lang="en-US" dirty="0"/>
              <a:t>All VIF values are below 5, with the highest being around 1.67 (for Weight).</a:t>
            </a:r>
          </a:p>
          <a:p>
            <a:endParaRPr lang="en-US" dirty="0"/>
          </a:p>
          <a:p>
            <a:r>
              <a:rPr lang="en-US" dirty="0"/>
              <a:t>This suggests that each predictor variable is only weakly correlated with the others, meaning that multicollinearity is not a concern in this model.</a:t>
            </a:r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D3868A-9D91-DAF5-7B44-C2DD5612E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Variance Inflation Factor (VIF)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FC08EB-9F71-D661-41A5-72C565FB2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680697"/>
              </p:ext>
            </p:extLst>
          </p:nvPr>
        </p:nvGraphicFramePr>
        <p:xfrm>
          <a:off x="1744543" y="1961077"/>
          <a:ext cx="7821912" cy="103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7739">
                  <a:extLst>
                    <a:ext uri="{9D8B030D-6E8A-4147-A177-3AD203B41FA5}">
                      <a16:colId xmlns:a16="http://schemas.microsoft.com/office/drawing/2014/main" val="1094787397"/>
                    </a:ext>
                  </a:extLst>
                </a:gridCol>
                <a:gridCol w="977739">
                  <a:extLst>
                    <a:ext uri="{9D8B030D-6E8A-4147-A177-3AD203B41FA5}">
                      <a16:colId xmlns:a16="http://schemas.microsoft.com/office/drawing/2014/main" val="748794794"/>
                    </a:ext>
                  </a:extLst>
                </a:gridCol>
                <a:gridCol w="977739">
                  <a:extLst>
                    <a:ext uri="{9D8B030D-6E8A-4147-A177-3AD203B41FA5}">
                      <a16:colId xmlns:a16="http://schemas.microsoft.com/office/drawing/2014/main" val="1642422198"/>
                    </a:ext>
                  </a:extLst>
                </a:gridCol>
                <a:gridCol w="977739">
                  <a:extLst>
                    <a:ext uri="{9D8B030D-6E8A-4147-A177-3AD203B41FA5}">
                      <a16:colId xmlns:a16="http://schemas.microsoft.com/office/drawing/2014/main" val="2486322192"/>
                    </a:ext>
                  </a:extLst>
                </a:gridCol>
                <a:gridCol w="977739">
                  <a:extLst>
                    <a:ext uri="{9D8B030D-6E8A-4147-A177-3AD203B41FA5}">
                      <a16:colId xmlns:a16="http://schemas.microsoft.com/office/drawing/2014/main" val="2132960655"/>
                    </a:ext>
                  </a:extLst>
                </a:gridCol>
                <a:gridCol w="977739">
                  <a:extLst>
                    <a:ext uri="{9D8B030D-6E8A-4147-A177-3AD203B41FA5}">
                      <a16:colId xmlns:a16="http://schemas.microsoft.com/office/drawing/2014/main" val="2318389002"/>
                    </a:ext>
                  </a:extLst>
                </a:gridCol>
                <a:gridCol w="977739">
                  <a:extLst>
                    <a:ext uri="{9D8B030D-6E8A-4147-A177-3AD203B41FA5}">
                      <a16:colId xmlns:a16="http://schemas.microsoft.com/office/drawing/2014/main" val="3242102706"/>
                    </a:ext>
                  </a:extLst>
                </a:gridCol>
                <a:gridCol w="977739">
                  <a:extLst>
                    <a:ext uri="{9D8B030D-6E8A-4147-A177-3AD203B41FA5}">
                      <a16:colId xmlns:a16="http://schemas.microsoft.com/office/drawing/2014/main" val="158724330"/>
                    </a:ext>
                  </a:extLst>
                </a:gridCol>
              </a:tblGrid>
              <a:tr h="516600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Height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FCVC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NCP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CH2O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TUE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600493"/>
                  </a:ext>
                </a:extLst>
              </a:tr>
              <a:tr h="516600">
                <a:tc>
                  <a:txBody>
                    <a:bodyPr/>
                    <a:lstStyle/>
                    <a:p>
                      <a:r>
                        <a:rPr lang="en-US" dirty="0"/>
                        <a:t>1.25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1.67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1.156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302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4684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E82E6-DA46-C870-D994-F389BC56C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BFC1D9-07E2-47F9-6FC0-FDEA1EAB9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1862" y="3280732"/>
            <a:ext cx="6291123" cy="2887458"/>
          </a:xfrm>
        </p:spPr>
        <p:txBody>
          <a:bodyPr>
            <a:normAutofit/>
          </a:bodyPr>
          <a:lstStyle/>
          <a:p>
            <a:pPr marL="102870" indent="0">
              <a:buNone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Capture the maximum variance in the data.</a:t>
            </a:r>
          </a:p>
          <a:p>
            <a:pPr marL="102870" indent="0">
              <a:buNone/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02870" indent="0"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PC1 has the highest standard deviation &amp; explains 25.01% of the variance.</a:t>
            </a:r>
          </a:p>
          <a:p>
            <a:pPr marL="102870" indent="0">
              <a:buNone/>
            </a:pPr>
            <a:endParaRPr lang="en-US" dirty="0">
              <a:solidFill>
                <a:srgbClr val="0D0D0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02870" indent="0">
              <a:buNone/>
            </a:pPr>
            <a:r>
              <a:rPr lang="en-US" dirty="0">
                <a:solidFill>
                  <a:srgbClr val="0D0D0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</a:t>
            </a:r>
            <a:r>
              <a:rPr lang="en-US" b="0" i="0" dirty="0">
                <a:solidFill>
                  <a:srgbClr val="0D0D0D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lbow appears to be around PC3 or PC4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83DB75-33F7-3686-BF0D-DF3D3640A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Principal Component Analysis (PCA)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32C85E-5CA0-4A98-953A-A547723B6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985" y="3135022"/>
            <a:ext cx="5393978" cy="3335863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67C871-34B0-9EB2-877C-8DA1D4972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560207"/>
              </p:ext>
            </p:extLst>
          </p:nvPr>
        </p:nvGraphicFramePr>
        <p:xfrm>
          <a:off x="1690130" y="1405828"/>
          <a:ext cx="8808564" cy="1356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191">
                  <a:extLst>
                    <a:ext uri="{9D8B030D-6E8A-4147-A177-3AD203B41FA5}">
                      <a16:colId xmlns:a16="http://schemas.microsoft.com/office/drawing/2014/main" val="3764295473"/>
                    </a:ext>
                  </a:extLst>
                </a:gridCol>
                <a:gridCol w="774067">
                  <a:extLst>
                    <a:ext uri="{9D8B030D-6E8A-4147-A177-3AD203B41FA5}">
                      <a16:colId xmlns:a16="http://schemas.microsoft.com/office/drawing/2014/main" val="2239162771"/>
                    </a:ext>
                  </a:extLst>
                </a:gridCol>
                <a:gridCol w="775962">
                  <a:extLst>
                    <a:ext uri="{9D8B030D-6E8A-4147-A177-3AD203B41FA5}">
                      <a16:colId xmlns:a16="http://schemas.microsoft.com/office/drawing/2014/main" val="1094787397"/>
                    </a:ext>
                  </a:extLst>
                </a:gridCol>
                <a:gridCol w="769374">
                  <a:extLst>
                    <a:ext uri="{9D8B030D-6E8A-4147-A177-3AD203B41FA5}">
                      <a16:colId xmlns:a16="http://schemas.microsoft.com/office/drawing/2014/main" val="748794794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491146424"/>
                    </a:ext>
                  </a:extLst>
                </a:gridCol>
                <a:gridCol w="794250">
                  <a:extLst>
                    <a:ext uri="{9D8B030D-6E8A-4147-A177-3AD203B41FA5}">
                      <a16:colId xmlns:a16="http://schemas.microsoft.com/office/drawing/2014/main" val="1642422198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486322192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132960655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318389002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5316093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73340924"/>
                    </a:ext>
                  </a:extLst>
                </a:gridCol>
              </a:tblGrid>
              <a:tr h="32024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PC5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PC6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PC7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PC8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PC9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PC10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600493"/>
                  </a:ext>
                </a:extLst>
              </a:tr>
              <a:tr h="466221">
                <a:tc>
                  <a:txBody>
                    <a:bodyPr/>
                    <a:lstStyle/>
                    <a:p>
                      <a:r>
                        <a:rPr lang="en-IN" dirty="0"/>
                        <a:t>Standard Deviation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302524"/>
                  </a:ext>
                </a:extLst>
              </a:tr>
              <a:tr h="464818">
                <a:tc>
                  <a:txBody>
                    <a:bodyPr/>
                    <a:lstStyle/>
                    <a:p>
                      <a:r>
                        <a:rPr lang="en-IN" dirty="0"/>
                        <a:t>Cumulative Proportion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801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7759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7C6ECC-8234-9D6C-9CE1-334F5CC12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Chi-squared test</a:t>
            </a:r>
          </a:p>
          <a:p>
            <a:endParaRPr lang="en-IN" dirty="0"/>
          </a:p>
          <a:p>
            <a:pPr marL="102870" indent="0">
              <a:buNone/>
            </a:pPr>
            <a:r>
              <a:rPr lang="en-IN" dirty="0"/>
              <a:t>Considering </a:t>
            </a:r>
            <a:r>
              <a:rPr lang="en-US" dirty="0"/>
              <a:t>Obesity levels</a:t>
            </a:r>
            <a:r>
              <a:rPr lang="en-IN" dirty="0"/>
              <a:t> as our target variable.</a:t>
            </a:r>
          </a:p>
          <a:p>
            <a:pPr marL="102870" indent="0">
              <a:buNone/>
            </a:pPr>
            <a:endParaRPr lang="en-IN" dirty="0"/>
          </a:p>
          <a:p>
            <a:pPr marL="102870" indent="0">
              <a:buNone/>
            </a:pPr>
            <a:endParaRPr lang="en-IN" dirty="0"/>
          </a:p>
          <a:p>
            <a:pPr marL="102870" indent="0">
              <a:buNone/>
            </a:pPr>
            <a:endParaRPr lang="en-IN" dirty="0"/>
          </a:p>
          <a:p>
            <a:pPr marL="102870" indent="0">
              <a:buNone/>
            </a:pPr>
            <a:endParaRPr lang="en-IN" dirty="0"/>
          </a:p>
          <a:p>
            <a:pPr marL="102870" indent="0">
              <a:buNone/>
            </a:pPr>
            <a:endParaRPr lang="en-IN" dirty="0"/>
          </a:p>
          <a:p>
            <a:pPr marL="102870" indent="0">
              <a:buNone/>
            </a:pPr>
            <a:r>
              <a:rPr lang="en-US" dirty="0"/>
              <a:t>All p-values are effectively zero (very small), meaning all tested variables are significantly associated with Obesity levels.</a:t>
            </a:r>
          </a:p>
          <a:p>
            <a:pPr marL="10287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98B728-309A-6BFD-5088-6639E1728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Categorical Analysis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704ACD-7101-BB82-A92B-39FF3909B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72441"/>
              </p:ext>
            </p:extLst>
          </p:nvPr>
        </p:nvGraphicFramePr>
        <p:xfrm>
          <a:off x="511548" y="2693595"/>
          <a:ext cx="11165724" cy="1251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660">
                  <a:extLst>
                    <a:ext uri="{9D8B030D-6E8A-4147-A177-3AD203B41FA5}">
                      <a16:colId xmlns:a16="http://schemas.microsoft.com/office/drawing/2014/main" val="3764295473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239162771"/>
                    </a:ext>
                  </a:extLst>
                </a:gridCol>
                <a:gridCol w="1444536">
                  <a:extLst>
                    <a:ext uri="{9D8B030D-6E8A-4147-A177-3AD203B41FA5}">
                      <a16:colId xmlns:a16="http://schemas.microsoft.com/office/drawing/2014/main" val="1094787397"/>
                    </a:ext>
                  </a:extLst>
                </a:gridCol>
                <a:gridCol w="1240636">
                  <a:extLst>
                    <a:ext uri="{9D8B030D-6E8A-4147-A177-3AD203B41FA5}">
                      <a16:colId xmlns:a16="http://schemas.microsoft.com/office/drawing/2014/main" val="748794794"/>
                    </a:ext>
                  </a:extLst>
                </a:gridCol>
                <a:gridCol w="1240636">
                  <a:extLst>
                    <a:ext uri="{9D8B030D-6E8A-4147-A177-3AD203B41FA5}">
                      <a16:colId xmlns:a16="http://schemas.microsoft.com/office/drawing/2014/main" val="1642422198"/>
                    </a:ext>
                  </a:extLst>
                </a:gridCol>
                <a:gridCol w="1240636">
                  <a:extLst>
                    <a:ext uri="{9D8B030D-6E8A-4147-A177-3AD203B41FA5}">
                      <a16:colId xmlns:a16="http://schemas.microsoft.com/office/drawing/2014/main" val="2486322192"/>
                    </a:ext>
                  </a:extLst>
                </a:gridCol>
                <a:gridCol w="1240636">
                  <a:extLst>
                    <a:ext uri="{9D8B030D-6E8A-4147-A177-3AD203B41FA5}">
                      <a16:colId xmlns:a16="http://schemas.microsoft.com/office/drawing/2014/main" val="2132960655"/>
                    </a:ext>
                  </a:extLst>
                </a:gridCol>
                <a:gridCol w="1240636">
                  <a:extLst>
                    <a:ext uri="{9D8B030D-6E8A-4147-A177-3AD203B41FA5}">
                      <a16:colId xmlns:a16="http://schemas.microsoft.com/office/drawing/2014/main" val="2318389002"/>
                    </a:ext>
                  </a:extLst>
                </a:gridCol>
                <a:gridCol w="1240636">
                  <a:extLst>
                    <a:ext uri="{9D8B030D-6E8A-4147-A177-3AD203B41FA5}">
                      <a16:colId xmlns:a16="http://schemas.microsoft.com/office/drawing/2014/main" val="253160931"/>
                    </a:ext>
                  </a:extLst>
                </a:gridCol>
              </a:tblGrid>
              <a:tr h="32024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family_history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MTRANS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600493"/>
                  </a:ext>
                </a:extLst>
              </a:tr>
              <a:tr h="466221">
                <a:tc>
                  <a:txBody>
                    <a:bodyPr/>
                    <a:lstStyle/>
                    <a:p>
                      <a:r>
                        <a:rPr lang="en-IN" dirty="0"/>
                        <a:t>Chi-squared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7953.8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6423.3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1553.6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6897.3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4013.1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2349.1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1024.8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302524"/>
                  </a:ext>
                </a:extLst>
              </a:tr>
              <a:tr h="464818">
                <a:tc>
                  <a:txBody>
                    <a:bodyPr/>
                    <a:lstStyle/>
                    <a:p>
                      <a:r>
                        <a:rPr lang="en-IN" dirty="0"/>
                        <a:t>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&lt; 0.0001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&lt; 0.0001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&lt; 0.0001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&lt; 0.0001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&lt; 0.0001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&lt; 0.0001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&lt; 0.0001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&lt; 0.0001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801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714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4A5BF1-C45B-5CA5-177D-386146BAB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2870" indent="0">
              <a:buNone/>
            </a:pPr>
            <a:r>
              <a:rPr lang="en-IN" dirty="0"/>
              <a:t>Cramér’s V Test</a:t>
            </a:r>
          </a:p>
          <a:p>
            <a:endParaRPr lang="en-IN" dirty="0"/>
          </a:p>
          <a:p>
            <a:r>
              <a:rPr lang="en-US" dirty="0"/>
              <a:t>Cramér's V is a measure derived from the Chi-squared statistic, providing a value between 0 and 1 where values closer to 0 suggest little association and values closer to 1 indicate strong association.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 here we will not consider FAVC, SMOKE, MTRANS &amp; SCC for our final model.</a:t>
            </a:r>
            <a:endParaRPr lang="en-IN" dirty="0"/>
          </a:p>
          <a:p>
            <a:pPr marL="10287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D76C72-3523-FDB2-8534-2812090C5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Categorical Analysis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0F4A45-1318-859D-F82B-B479226EE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029072"/>
              </p:ext>
            </p:extLst>
          </p:nvPr>
        </p:nvGraphicFramePr>
        <p:xfrm>
          <a:off x="530601" y="3429000"/>
          <a:ext cx="11165724" cy="865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636">
                  <a:extLst>
                    <a:ext uri="{9D8B030D-6E8A-4147-A177-3AD203B41FA5}">
                      <a16:colId xmlns:a16="http://schemas.microsoft.com/office/drawing/2014/main" val="3764295473"/>
                    </a:ext>
                  </a:extLst>
                </a:gridCol>
                <a:gridCol w="1095439">
                  <a:extLst>
                    <a:ext uri="{9D8B030D-6E8A-4147-A177-3AD203B41FA5}">
                      <a16:colId xmlns:a16="http://schemas.microsoft.com/office/drawing/2014/main" val="2239162771"/>
                    </a:ext>
                  </a:extLst>
                </a:gridCol>
                <a:gridCol w="1385833">
                  <a:extLst>
                    <a:ext uri="{9D8B030D-6E8A-4147-A177-3AD203B41FA5}">
                      <a16:colId xmlns:a16="http://schemas.microsoft.com/office/drawing/2014/main" val="1094787397"/>
                    </a:ext>
                  </a:extLst>
                </a:gridCol>
                <a:gridCol w="1240636">
                  <a:extLst>
                    <a:ext uri="{9D8B030D-6E8A-4147-A177-3AD203B41FA5}">
                      <a16:colId xmlns:a16="http://schemas.microsoft.com/office/drawing/2014/main" val="748794794"/>
                    </a:ext>
                  </a:extLst>
                </a:gridCol>
                <a:gridCol w="1240636">
                  <a:extLst>
                    <a:ext uri="{9D8B030D-6E8A-4147-A177-3AD203B41FA5}">
                      <a16:colId xmlns:a16="http://schemas.microsoft.com/office/drawing/2014/main" val="1642422198"/>
                    </a:ext>
                  </a:extLst>
                </a:gridCol>
                <a:gridCol w="1240636">
                  <a:extLst>
                    <a:ext uri="{9D8B030D-6E8A-4147-A177-3AD203B41FA5}">
                      <a16:colId xmlns:a16="http://schemas.microsoft.com/office/drawing/2014/main" val="2486322192"/>
                    </a:ext>
                  </a:extLst>
                </a:gridCol>
                <a:gridCol w="1240636">
                  <a:extLst>
                    <a:ext uri="{9D8B030D-6E8A-4147-A177-3AD203B41FA5}">
                      <a16:colId xmlns:a16="http://schemas.microsoft.com/office/drawing/2014/main" val="2132960655"/>
                    </a:ext>
                  </a:extLst>
                </a:gridCol>
                <a:gridCol w="1240636">
                  <a:extLst>
                    <a:ext uri="{9D8B030D-6E8A-4147-A177-3AD203B41FA5}">
                      <a16:colId xmlns:a16="http://schemas.microsoft.com/office/drawing/2014/main" val="2318389002"/>
                    </a:ext>
                  </a:extLst>
                </a:gridCol>
                <a:gridCol w="1240636">
                  <a:extLst>
                    <a:ext uri="{9D8B030D-6E8A-4147-A177-3AD203B41FA5}">
                      <a16:colId xmlns:a16="http://schemas.microsoft.com/office/drawing/2014/main" val="4070249703"/>
                    </a:ext>
                  </a:extLst>
                </a:gridCol>
              </a:tblGrid>
              <a:tr h="39887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family_history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MTRANS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600493"/>
                  </a:ext>
                </a:extLst>
              </a:tr>
              <a:tr h="466221">
                <a:tc>
                  <a:txBody>
                    <a:bodyPr/>
                    <a:lstStyle/>
                    <a:p>
                      <a:r>
                        <a:rPr lang="en-IN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302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19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FF0E67-570F-1E69-51F5-2D93AFDAB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2870" indent="0">
              <a:buNone/>
            </a:pPr>
            <a:r>
              <a:rPr lang="en-IN" dirty="0"/>
              <a:t>ANOVA Test</a:t>
            </a:r>
          </a:p>
          <a:p>
            <a:pPr marL="102870" indent="0">
              <a:buNone/>
            </a:pPr>
            <a:endParaRPr lang="en-IN" dirty="0"/>
          </a:p>
          <a:p>
            <a:r>
              <a:rPr lang="en-IN" dirty="0"/>
              <a:t>Considering </a:t>
            </a:r>
            <a:r>
              <a:rPr lang="en-US" dirty="0"/>
              <a:t>Obesity levels</a:t>
            </a:r>
            <a:r>
              <a:rPr lang="en-IN" dirty="0"/>
              <a:t> as our target variable.</a:t>
            </a:r>
          </a:p>
          <a:p>
            <a:pPr marL="102870" indent="0">
              <a:buNone/>
            </a:pPr>
            <a:endParaRPr lang="en-IN" dirty="0"/>
          </a:p>
          <a:p>
            <a:pPr marL="102870" indent="0">
              <a:buNone/>
            </a:pPr>
            <a:endParaRPr lang="en-IN" dirty="0"/>
          </a:p>
          <a:p>
            <a:pPr marL="102870" indent="0">
              <a:buNone/>
            </a:pPr>
            <a:endParaRPr lang="en-IN" dirty="0"/>
          </a:p>
          <a:p>
            <a:pPr marL="102870" indent="0">
              <a:buNone/>
            </a:pPr>
            <a:endParaRPr lang="en-US" dirty="0"/>
          </a:p>
          <a:p>
            <a:r>
              <a:rPr lang="en-US" dirty="0"/>
              <a:t>Weight, Age and Height show high F-values, indicating significant differences across obesity levels.</a:t>
            </a:r>
          </a:p>
          <a:p>
            <a:endParaRPr lang="en-US" dirty="0"/>
          </a:p>
          <a:p>
            <a:r>
              <a:rPr lang="en-US" dirty="0"/>
              <a:t>Extremely low p-value suggests that the differences in the means of each variable across obesity levels are statistically significant.</a:t>
            </a:r>
          </a:p>
          <a:p>
            <a:pPr marL="102870" indent="0">
              <a:buNone/>
            </a:pPr>
            <a:endParaRPr lang="en-IN" dirty="0"/>
          </a:p>
          <a:p>
            <a:pPr marL="102870" indent="0">
              <a:buNone/>
            </a:pPr>
            <a:endParaRPr lang="en-IN" dirty="0"/>
          </a:p>
          <a:p>
            <a:pPr marL="10287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198650-6300-3710-F30F-F76AFEA0D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Statistical Analysis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894C9E-36F6-16DD-B4B1-77BC0F46A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98065"/>
              </p:ext>
            </p:extLst>
          </p:nvPr>
        </p:nvGraphicFramePr>
        <p:xfrm>
          <a:off x="511550" y="2565258"/>
          <a:ext cx="11165724" cy="1251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636">
                  <a:extLst>
                    <a:ext uri="{9D8B030D-6E8A-4147-A177-3AD203B41FA5}">
                      <a16:colId xmlns:a16="http://schemas.microsoft.com/office/drawing/2014/main" val="3764295473"/>
                    </a:ext>
                  </a:extLst>
                </a:gridCol>
                <a:gridCol w="1240636">
                  <a:extLst>
                    <a:ext uri="{9D8B030D-6E8A-4147-A177-3AD203B41FA5}">
                      <a16:colId xmlns:a16="http://schemas.microsoft.com/office/drawing/2014/main" val="2239162771"/>
                    </a:ext>
                  </a:extLst>
                </a:gridCol>
                <a:gridCol w="1240636">
                  <a:extLst>
                    <a:ext uri="{9D8B030D-6E8A-4147-A177-3AD203B41FA5}">
                      <a16:colId xmlns:a16="http://schemas.microsoft.com/office/drawing/2014/main" val="1094787397"/>
                    </a:ext>
                  </a:extLst>
                </a:gridCol>
                <a:gridCol w="1240636">
                  <a:extLst>
                    <a:ext uri="{9D8B030D-6E8A-4147-A177-3AD203B41FA5}">
                      <a16:colId xmlns:a16="http://schemas.microsoft.com/office/drawing/2014/main" val="748794794"/>
                    </a:ext>
                  </a:extLst>
                </a:gridCol>
                <a:gridCol w="1240636">
                  <a:extLst>
                    <a:ext uri="{9D8B030D-6E8A-4147-A177-3AD203B41FA5}">
                      <a16:colId xmlns:a16="http://schemas.microsoft.com/office/drawing/2014/main" val="1642422198"/>
                    </a:ext>
                  </a:extLst>
                </a:gridCol>
                <a:gridCol w="1240636">
                  <a:extLst>
                    <a:ext uri="{9D8B030D-6E8A-4147-A177-3AD203B41FA5}">
                      <a16:colId xmlns:a16="http://schemas.microsoft.com/office/drawing/2014/main" val="2486322192"/>
                    </a:ext>
                  </a:extLst>
                </a:gridCol>
                <a:gridCol w="1240636">
                  <a:extLst>
                    <a:ext uri="{9D8B030D-6E8A-4147-A177-3AD203B41FA5}">
                      <a16:colId xmlns:a16="http://schemas.microsoft.com/office/drawing/2014/main" val="2132960655"/>
                    </a:ext>
                  </a:extLst>
                </a:gridCol>
                <a:gridCol w="1240636">
                  <a:extLst>
                    <a:ext uri="{9D8B030D-6E8A-4147-A177-3AD203B41FA5}">
                      <a16:colId xmlns:a16="http://schemas.microsoft.com/office/drawing/2014/main" val="2318389002"/>
                    </a:ext>
                  </a:extLst>
                </a:gridCol>
                <a:gridCol w="1240636">
                  <a:extLst>
                    <a:ext uri="{9D8B030D-6E8A-4147-A177-3AD203B41FA5}">
                      <a16:colId xmlns:a16="http://schemas.microsoft.com/office/drawing/2014/main" val="253160931"/>
                    </a:ext>
                  </a:extLst>
                </a:gridCol>
              </a:tblGrid>
              <a:tr h="32024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Height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Weight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FCVC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NCP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CH2O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FAF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TUE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600493"/>
                  </a:ext>
                </a:extLst>
              </a:tr>
              <a:tr h="466221">
                <a:tc>
                  <a:txBody>
                    <a:bodyPr/>
                    <a:lstStyle/>
                    <a:p>
                      <a:r>
                        <a:rPr lang="en-IN" dirty="0"/>
                        <a:t>F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962.9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759.6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22868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385.8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282.7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147.2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302524"/>
                  </a:ext>
                </a:extLst>
              </a:tr>
              <a:tr h="464818">
                <a:tc>
                  <a:txBody>
                    <a:bodyPr/>
                    <a:lstStyle/>
                    <a:p>
                      <a:r>
                        <a:rPr lang="en-IN" dirty="0"/>
                        <a:t>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&lt; 0.0001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&lt; 0.0001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4C4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&lt; 0.0001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4C4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&lt; 0.0001</a:t>
                      </a:r>
                      <a:endParaRPr kumimoji="0" lang="en-I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4C42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4C4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&lt; 0.0001</a:t>
                      </a:r>
                      <a:endParaRPr kumimoji="0" lang="en-I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4C42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4C4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&lt; 0.0001</a:t>
                      </a:r>
                      <a:endParaRPr kumimoji="0" lang="en-I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4C42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4C4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&lt; 0.0001</a:t>
                      </a:r>
                      <a:endParaRPr kumimoji="0" lang="en-I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4C42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4C4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&lt; 0.0001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801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8106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C07741-E08C-48A3-7B65-0B33D4204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8913" y="1775894"/>
            <a:ext cx="5730624" cy="4443663"/>
          </a:xfrm>
        </p:spPr>
        <p:txBody>
          <a:bodyPr/>
          <a:lstStyle/>
          <a:p>
            <a:pPr marL="102870" indent="0">
              <a:buNone/>
            </a:pPr>
            <a:r>
              <a:rPr lang="en-IN" dirty="0"/>
              <a:t>Multiple Linear Regression</a:t>
            </a:r>
          </a:p>
          <a:p>
            <a:endParaRPr lang="en-IN" dirty="0"/>
          </a:p>
          <a:p>
            <a:r>
              <a:rPr lang="en-US" dirty="0"/>
              <a:t>Variables like Age, Height, Weight, FCVC, NCP, CH2O have strong relationship with the dependent variable.</a:t>
            </a:r>
          </a:p>
          <a:p>
            <a:endParaRPr lang="en-US" dirty="0"/>
          </a:p>
          <a:p>
            <a:r>
              <a:rPr lang="en-IN" dirty="0"/>
              <a:t>We will ignore FAF &amp; TUE for our model.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FDADCD-1BBA-B395-069A-D3CAC723C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Statistical Analysis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5F12D6-2E9C-0DC9-2997-F5C417F33C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904391"/>
              </p:ext>
            </p:extLst>
          </p:nvPr>
        </p:nvGraphicFramePr>
        <p:xfrm>
          <a:off x="6094412" y="1635890"/>
          <a:ext cx="5905500" cy="3586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1421247220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37542967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523261258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983178638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1576048590"/>
                    </a:ext>
                  </a:extLst>
                </a:gridCol>
              </a:tblGrid>
              <a:tr h="35862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Std.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883741"/>
                  </a:ext>
                </a:extLst>
              </a:tr>
              <a:tr h="358622">
                <a:tc>
                  <a:txBody>
                    <a:bodyPr/>
                    <a:lstStyle/>
                    <a:p>
                      <a:r>
                        <a:rPr lang="en-IN" dirty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5.386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20.064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4C4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&lt; 0.0001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12945"/>
                  </a:ext>
                </a:extLst>
              </a:tr>
              <a:tr h="358622">
                <a:tc>
                  <a:txBody>
                    <a:bodyPr/>
                    <a:lstStyle/>
                    <a:p>
                      <a:r>
                        <a:rPr lang="en-IN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23.988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4C4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&lt; 0.0001</a:t>
                      </a:r>
                      <a:endParaRPr kumimoji="0" lang="en-I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4C42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47664"/>
                  </a:ext>
                </a:extLst>
              </a:tr>
              <a:tr h="358622">
                <a:tc>
                  <a:txBody>
                    <a:bodyPr/>
                    <a:lstStyle/>
                    <a:p>
                      <a:r>
                        <a:rPr lang="en-IN" dirty="0"/>
                        <a:t>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-2.728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-17.052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4C4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&lt; 0.0001</a:t>
                      </a:r>
                      <a:endParaRPr kumimoji="0" lang="en-I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4C42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713649"/>
                  </a:ext>
                </a:extLst>
              </a:tr>
              <a:tr h="358622">
                <a:tc>
                  <a:txBody>
                    <a:bodyPr/>
                    <a:lstStyle/>
                    <a:p>
                      <a:r>
                        <a:rPr lang="en-IN" dirty="0"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56.741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4C4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&lt; 0.0001</a:t>
                      </a:r>
                      <a:endParaRPr kumimoji="0" lang="en-I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4C42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684747"/>
                  </a:ext>
                </a:extLst>
              </a:tr>
              <a:tr h="358622">
                <a:tc>
                  <a:txBody>
                    <a:bodyPr/>
                    <a:lstStyle/>
                    <a:p>
                      <a:r>
                        <a:rPr lang="en-IN" dirty="0"/>
                        <a:t>FCVC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-0.271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-11.822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4C4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&lt; 0.0001</a:t>
                      </a:r>
                      <a:endParaRPr kumimoji="0" lang="en-I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4C42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928441"/>
                  </a:ext>
                </a:extLst>
              </a:tr>
              <a:tr h="358622">
                <a:tc>
                  <a:txBody>
                    <a:bodyPr/>
                    <a:lstStyle/>
                    <a:p>
                      <a:r>
                        <a:rPr lang="en-IN" dirty="0"/>
                        <a:t>NCP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-0.273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-16.350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4C4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&lt; 0.0001</a:t>
                      </a:r>
                      <a:endParaRPr kumimoji="0" lang="en-I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4C42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685482"/>
                  </a:ext>
                </a:extLst>
              </a:tr>
              <a:tr h="358622">
                <a:tc>
                  <a:txBody>
                    <a:bodyPr/>
                    <a:lstStyle/>
                    <a:p>
                      <a:r>
                        <a:rPr lang="en-IN" dirty="0"/>
                        <a:t>CH2O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13.774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4C42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&lt; 0.0001</a:t>
                      </a:r>
                      <a:endParaRPr kumimoji="0" lang="en-I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4C42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065826"/>
                  </a:ext>
                </a:extLst>
              </a:tr>
              <a:tr h="358622">
                <a:tc>
                  <a:txBody>
                    <a:bodyPr/>
                    <a:lstStyle/>
                    <a:p>
                      <a:r>
                        <a:rPr lang="en-IN" dirty="0"/>
                        <a:t>FAF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0.702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0.483</a:t>
                      </a:r>
                      <a:endParaRPr kumimoji="0" lang="en-I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4C42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233803"/>
                  </a:ext>
                </a:extLst>
              </a:tr>
              <a:tr h="358622">
                <a:tc>
                  <a:txBody>
                    <a:bodyPr/>
                    <a:lstStyle/>
                    <a:p>
                      <a:r>
                        <a:rPr lang="en-IN" dirty="0"/>
                        <a:t>TUE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2.477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0.013</a:t>
                      </a:r>
                      <a:endParaRPr kumimoji="0" lang="en-I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4C42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78892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21768EC-C30A-6C54-4002-3A32C3BEEFE0}"/>
              </a:ext>
            </a:extLst>
          </p:cNvPr>
          <p:cNvSpPr txBox="1"/>
          <p:nvPr/>
        </p:nvSpPr>
        <p:spPr>
          <a:xfrm>
            <a:off x="6399974" y="5347746"/>
            <a:ext cx="52943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Residual standard error: 1.641 on 20749 degrees of freedom</a:t>
            </a:r>
          </a:p>
          <a:p>
            <a:r>
              <a:rPr lang="en-US" dirty="0"/>
              <a:t>Multiple R-squared:  0.2493,	Adjusted R-squared:  0.2491 </a:t>
            </a:r>
          </a:p>
          <a:p>
            <a:r>
              <a:rPr lang="en-US" dirty="0"/>
              <a:t>F-statistic: 861.5 on 8 and 20749 DF,  p-value: &lt; 2.2e-16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8128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12B13DD-7C8B-FD97-63D5-23488B448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8913" y="1377330"/>
            <a:ext cx="5522076" cy="5135100"/>
          </a:xfrm>
        </p:spPr>
        <p:txBody>
          <a:bodyPr/>
          <a:lstStyle/>
          <a:p>
            <a:pPr marL="102870" indent="0">
              <a:buNone/>
            </a:pPr>
            <a:r>
              <a:rPr lang="en-IN" dirty="0"/>
              <a:t>Using the Random Forrest model for the chosen variables we achieve a very high accuracy.</a:t>
            </a:r>
          </a:p>
          <a:p>
            <a:pPr marL="102870" indent="0">
              <a:buNone/>
            </a:pPr>
            <a:endParaRPr lang="en-IN" dirty="0"/>
          </a:p>
          <a:p>
            <a:pPr marL="102870" indent="0">
              <a:buNone/>
            </a:pPr>
            <a:r>
              <a:rPr lang="en-IN" dirty="0"/>
              <a:t>"Accuracy: 0.896“</a:t>
            </a:r>
          </a:p>
          <a:p>
            <a:pPr marL="102870" indent="0">
              <a:buNone/>
            </a:pPr>
            <a:endParaRPr lang="en-IN" dirty="0"/>
          </a:p>
          <a:p>
            <a:pPr marL="102870" indent="0">
              <a:buNone/>
            </a:pPr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Weight, Height, and Age</a:t>
            </a: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 as the most significant predictors for classifying obesity categories</a:t>
            </a:r>
            <a:endParaRPr lang="en-IN" b="0" i="0" dirty="0">
              <a:solidFill>
                <a:srgbClr val="0D0D0D"/>
              </a:solidFill>
              <a:effectLst/>
              <a:latin typeface="Segoe UI Variable Text" pitchFamily="2" charset="0"/>
            </a:endParaRPr>
          </a:p>
          <a:p>
            <a:pPr marL="102870" indent="0">
              <a:buNone/>
            </a:pPr>
            <a:endParaRPr lang="en-IN" dirty="0">
              <a:solidFill>
                <a:srgbClr val="0D0D0D"/>
              </a:solidFill>
              <a:latin typeface="Segoe UI Variable Text" pitchFamily="2" charset="0"/>
            </a:endParaRPr>
          </a:p>
          <a:p>
            <a:pPr marL="102870" indent="0"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Lifestyle factors like </a:t>
            </a:r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diet and hydration</a:t>
            </a: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 also play essential roles but to a lesser extent.</a:t>
            </a:r>
            <a:endParaRPr lang="en-IN" dirty="0">
              <a:solidFill>
                <a:srgbClr val="0D0D0D"/>
              </a:solidFill>
              <a:latin typeface="Segoe UI Variable Text" pitchFamily="2" charset="0"/>
            </a:endParaRPr>
          </a:p>
          <a:p>
            <a:pPr marL="10287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263A93-CF97-86F5-5BBE-A41DFBD52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Random Forrest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ABD731-AEF8-1EDC-DDC9-0B9223EEC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720" y="1844842"/>
            <a:ext cx="6217563" cy="384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452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E54AC-6B0D-CB7B-AB42-7C7A638BE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A62FAC-08E8-7E8B-280F-E9206493F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6767" y="3393579"/>
            <a:ext cx="5522076" cy="2123252"/>
          </a:xfrm>
        </p:spPr>
        <p:txBody>
          <a:bodyPr/>
          <a:lstStyle/>
          <a:p>
            <a:pPr marL="102870" indent="0">
              <a:buNone/>
            </a:pPr>
            <a:r>
              <a:rPr lang="en-IN" dirty="0"/>
              <a:t>Using the Decision Tree model for the chosen variables here too we achieve a very high accuracy.</a:t>
            </a:r>
          </a:p>
          <a:p>
            <a:pPr marL="102870" indent="0">
              <a:buNone/>
            </a:pPr>
            <a:endParaRPr lang="en-IN" dirty="0"/>
          </a:p>
          <a:p>
            <a:pPr marL="102870" indent="0">
              <a:buNone/>
            </a:pPr>
            <a:r>
              <a:rPr lang="en-IN" dirty="0"/>
              <a:t>"Accuracy: 0.824 “</a:t>
            </a:r>
          </a:p>
          <a:p>
            <a:pPr marL="102870" indent="0">
              <a:buNone/>
            </a:pPr>
            <a:endParaRPr lang="en-IN" dirty="0"/>
          </a:p>
          <a:p>
            <a:pPr marL="102870" indent="0">
              <a:buNone/>
            </a:pPr>
            <a:endParaRPr lang="en-IN" dirty="0"/>
          </a:p>
          <a:p>
            <a:pPr marL="102870" indent="0">
              <a:buNone/>
            </a:pPr>
            <a:endParaRPr lang="en-IN" dirty="0"/>
          </a:p>
          <a:p>
            <a:pPr marL="10287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F97A3C-6273-A1FE-5D14-A2F7F1FA1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Decision Tree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5FD6D30-6EE7-6212-6CD6-E608B60B92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474661"/>
              </p:ext>
            </p:extLst>
          </p:nvPr>
        </p:nvGraphicFramePr>
        <p:xfrm>
          <a:off x="2620252" y="1847215"/>
          <a:ext cx="7675684" cy="75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8921">
                  <a:extLst>
                    <a:ext uri="{9D8B030D-6E8A-4147-A177-3AD203B41FA5}">
                      <a16:colId xmlns:a16="http://schemas.microsoft.com/office/drawing/2014/main" val="3047694501"/>
                    </a:ext>
                  </a:extLst>
                </a:gridCol>
                <a:gridCol w="1918921">
                  <a:extLst>
                    <a:ext uri="{9D8B030D-6E8A-4147-A177-3AD203B41FA5}">
                      <a16:colId xmlns:a16="http://schemas.microsoft.com/office/drawing/2014/main" val="1890502927"/>
                    </a:ext>
                  </a:extLst>
                </a:gridCol>
                <a:gridCol w="1918921">
                  <a:extLst>
                    <a:ext uri="{9D8B030D-6E8A-4147-A177-3AD203B41FA5}">
                      <a16:colId xmlns:a16="http://schemas.microsoft.com/office/drawing/2014/main" val="3493999594"/>
                    </a:ext>
                  </a:extLst>
                </a:gridCol>
                <a:gridCol w="1918921">
                  <a:extLst>
                    <a:ext uri="{9D8B030D-6E8A-4147-A177-3AD203B41FA5}">
                      <a16:colId xmlns:a16="http://schemas.microsoft.com/office/drawing/2014/main" val="2583973318"/>
                    </a:ext>
                  </a:extLst>
                </a:gridCol>
              </a:tblGrid>
              <a:tr h="378720">
                <a:tc>
                  <a:txBody>
                    <a:bodyPr/>
                    <a:lstStyle/>
                    <a:p>
                      <a:r>
                        <a:rPr lang="en-IN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95%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Information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P-value [</a:t>
                      </a:r>
                      <a:r>
                        <a:rPr lang="en-IN" dirty="0" err="1"/>
                        <a:t>Acc</a:t>
                      </a:r>
                      <a:r>
                        <a:rPr lang="en-IN" dirty="0"/>
                        <a:t> &gt;NIR]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036472"/>
                  </a:ext>
                </a:extLst>
              </a:tr>
              <a:tr h="378720">
                <a:tc>
                  <a:txBody>
                    <a:bodyPr/>
                    <a:lstStyle/>
                    <a:p>
                      <a:r>
                        <a:rPr lang="en-IN" dirty="0"/>
                        <a:t>0.824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(0.813, 0.834)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4C4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Arial"/>
                        </a:rPr>
                        <a:t>&lt; 0.0001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59642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05631F6-3C79-DCDC-E029-5178A999888A}"/>
              </a:ext>
            </a:extLst>
          </p:cNvPr>
          <p:cNvSpPr txBox="1"/>
          <p:nvPr/>
        </p:nvSpPr>
        <p:spPr>
          <a:xfrm>
            <a:off x="6458094" y="3328924"/>
            <a:ext cx="52739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" indent="0">
              <a:buNone/>
            </a:pPr>
            <a:r>
              <a:rPr lang="en-IN" sz="2400" dirty="0"/>
              <a:t>Since the p-value is less than 0.05 we reject the null hypothesis </a:t>
            </a:r>
            <a:r>
              <a:rPr lang="en-US" sz="2400" dirty="0"/>
              <a:t>indicating that the model's accuracy is significantly better than the no information rate.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45793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92D072-6CDF-5D6D-5585-FD85CC1CB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9862" y="1457540"/>
            <a:ext cx="11849100" cy="5135100"/>
          </a:xfrm>
        </p:spPr>
        <p:txBody>
          <a:bodyPr/>
          <a:lstStyle/>
          <a:p>
            <a:pPr marL="102870" indent="0">
              <a:buNone/>
            </a:pPr>
            <a:r>
              <a:rPr lang="en-IN" dirty="0"/>
              <a:t>Since the dataset is not normally distributed.</a:t>
            </a:r>
          </a:p>
          <a:p>
            <a:r>
              <a:rPr lang="en-US" dirty="0">
                <a:solidFill>
                  <a:srgbClr val="0D0D0D"/>
                </a:solidFill>
                <a:latin typeface="Segoe UI Variable Text" pitchFamily="2" charset="0"/>
              </a:rPr>
              <a:t>R</a:t>
            </a: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esults of the ANOVA &amp; Chi-Square test may not be valid.</a:t>
            </a:r>
            <a:endParaRPr lang="en-IN" dirty="0"/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Reduced model performance in Random Forrest.</a:t>
            </a:r>
            <a:endParaRPr lang="en-US" dirty="0">
              <a:solidFill>
                <a:srgbClr val="0D0D0D"/>
              </a:solidFill>
              <a:latin typeface="Segoe UI Variable Text" pitchFamily="2" charset="0"/>
            </a:endParaRPr>
          </a:p>
          <a:p>
            <a:r>
              <a:rPr lang="en-US" dirty="0">
                <a:solidFill>
                  <a:srgbClr val="0D0D0D"/>
                </a:solidFill>
                <a:latin typeface="Segoe UI Variable Text" pitchFamily="2" charset="0"/>
              </a:rPr>
              <a:t>R</a:t>
            </a: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educed interpretability in Decision Tree.</a:t>
            </a:r>
          </a:p>
          <a:p>
            <a:pPr marL="102870" indent="0">
              <a:buNone/>
            </a:pPr>
            <a:endParaRPr lang="en-US" dirty="0">
              <a:solidFill>
                <a:srgbClr val="0D0D0D"/>
              </a:solidFill>
              <a:latin typeface="Segoe UI Variable Text" pitchFamily="2" charset="0"/>
            </a:endParaRPr>
          </a:p>
          <a:p>
            <a:pPr marL="102870" indent="0">
              <a:buNone/>
            </a:pPr>
            <a:r>
              <a:rPr lang="en-US" dirty="0">
                <a:solidFill>
                  <a:srgbClr val="0D0D0D"/>
                </a:solidFill>
                <a:latin typeface="Segoe UI Variable Text" pitchFamily="2" charset="0"/>
              </a:rPr>
              <a:t>Don’t know much about relationships of numerical vs categorical variables.</a:t>
            </a:r>
          </a:p>
          <a:p>
            <a:pPr marL="102870" indent="0">
              <a:buNone/>
            </a:pPr>
            <a:endParaRPr lang="en-US" dirty="0">
              <a:solidFill>
                <a:srgbClr val="0D0D0D"/>
              </a:solidFill>
              <a:latin typeface="Segoe UI Variable Text" pitchFamily="2" charset="0"/>
            </a:endParaRPr>
          </a:p>
          <a:p>
            <a:pPr marL="102870" indent="0">
              <a:buNone/>
            </a:pPr>
            <a:r>
              <a:rPr lang="en-US" dirty="0">
                <a:solidFill>
                  <a:srgbClr val="0D0D0D"/>
                </a:solidFill>
                <a:latin typeface="Segoe UI Variable Text" pitchFamily="2" charset="0"/>
              </a:rPr>
              <a:t>Random Forest </a:t>
            </a: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can sometimes overemphasize categorical variables with many levels.</a:t>
            </a:r>
          </a:p>
          <a:p>
            <a:pPr marL="102870" indent="0">
              <a:buNone/>
            </a:pPr>
            <a:endParaRPr lang="en-US" dirty="0">
              <a:solidFill>
                <a:srgbClr val="0D0D0D"/>
              </a:solidFill>
              <a:latin typeface="Segoe UI Variable Text" pitchFamily="2" charset="0"/>
            </a:endParaRPr>
          </a:p>
          <a:p>
            <a:pPr marL="102870" indent="0"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Decision trees are easy to interpret but prone to overfitting. The model we made excels particularly in identifying individuals with Obesity Type III, showing a sensitivity near perfect at 99.7% but weaker performance in distinguishing Overweight Level II, where sensitivity is only 58.73%.</a:t>
            </a:r>
          </a:p>
          <a:p>
            <a:pPr marL="102870" indent="0">
              <a:buNone/>
            </a:pPr>
            <a:r>
              <a:rPr lang="en-US" dirty="0">
                <a:solidFill>
                  <a:srgbClr val="0D0D0D"/>
                </a:solidFill>
                <a:latin typeface="Segoe UI Variable Text" pitchFamily="2" charset="0"/>
              </a:rPr>
              <a:t> </a:t>
            </a:r>
          </a:p>
          <a:p>
            <a:pPr marL="102870" indent="0">
              <a:buNone/>
            </a:pPr>
            <a:endParaRPr lang="en-US" dirty="0">
              <a:solidFill>
                <a:srgbClr val="0D0D0D"/>
              </a:solidFill>
              <a:latin typeface="Segoe UI Variable Tex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0D8100-414B-CD3D-1B61-49B470F5F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</a:t>
            </a:r>
          </a:p>
        </p:txBody>
      </p:sp>
    </p:spTree>
    <p:extLst>
      <p:ext uri="{BB962C8B-B14F-4D97-AF65-F5344CB8AC3E}">
        <p14:creationId xmlns:p14="http://schemas.microsoft.com/office/powerpoint/2010/main" val="381964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70E626-D7E3-CFD0-4C7E-01EB565A5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transformations (e.g., log, square root, etc.) to normalize distributions.</a:t>
            </a:r>
          </a:p>
          <a:p>
            <a:endParaRPr lang="en-US" dirty="0"/>
          </a:p>
          <a:p>
            <a:r>
              <a:rPr lang="en-US" dirty="0"/>
              <a:t>Collect longitudinal data to study how obesity evolves over time and track lifestyle changes.</a:t>
            </a:r>
          </a:p>
          <a:p>
            <a:endParaRPr lang="en-US" dirty="0"/>
          </a:p>
          <a:p>
            <a:r>
              <a:rPr lang="en-US" dirty="0"/>
              <a:t>Integrate geolocation data to study the impact of environmental factors like access to parks, gyms, or fast-food outlets.</a:t>
            </a:r>
          </a:p>
          <a:p>
            <a:endParaRPr lang="en-IN" dirty="0"/>
          </a:p>
          <a:p>
            <a:r>
              <a:rPr lang="en-US" dirty="0"/>
              <a:t>Use techniques like SHAP values or gradient boosting methods like </a:t>
            </a:r>
            <a:r>
              <a:rPr lang="en-US" dirty="0" err="1"/>
              <a:t>XGBoost</a:t>
            </a:r>
            <a:r>
              <a:rPr lang="en-US" dirty="0"/>
              <a:t> or </a:t>
            </a:r>
            <a:r>
              <a:rPr lang="en-US" dirty="0" err="1"/>
              <a:t>LightGBM</a:t>
            </a:r>
            <a:r>
              <a:rPr lang="en-US" dirty="0"/>
              <a:t> for better accuracy.</a:t>
            </a:r>
          </a:p>
          <a:p>
            <a:endParaRPr lang="en-US" dirty="0"/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Use techniques like </a:t>
            </a:r>
            <a:r>
              <a:rPr lang="en-US" b="1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cross-validation</a:t>
            </a:r>
            <a:r>
              <a:rPr lang="en-US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, hyperparameter tuning </a:t>
            </a:r>
            <a:r>
              <a:rPr lang="en-IN" b="0" i="0" dirty="0">
                <a:solidFill>
                  <a:srgbClr val="0D0D0D"/>
                </a:solidFill>
                <a:effectLst/>
                <a:latin typeface="Segoe UI Variable Text" pitchFamily="2" charset="0"/>
              </a:rPr>
              <a:t>to mitigate overfitting.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E3A851-4C6E-9B18-4802-3348D6DF8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516016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67A8D6-E8A5-3A13-F4BB-04F987D3C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8913" y="2534652"/>
            <a:ext cx="11849100" cy="3048001"/>
          </a:xfrm>
        </p:spPr>
        <p:txBody>
          <a:bodyPr/>
          <a:lstStyle/>
          <a:p>
            <a:r>
              <a:rPr lang="en-IN" dirty="0"/>
              <a:t>We are grateful to </a:t>
            </a:r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Sumona</a:t>
            </a:r>
            <a:r>
              <a:rPr lang="en-IN" dirty="0"/>
              <a:t> Mondal for your guidance throughout this semester, it’s obvious that this project wouldn’t have been possible without you.</a:t>
            </a:r>
          </a:p>
          <a:p>
            <a:endParaRPr lang="en-IN" dirty="0"/>
          </a:p>
          <a:p>
            <a:r>
              <a:rPr lang="en-IN" dirty="0"/>
              <a:t>To Naveen Ramachandra Reddy, thanks for all the tips and suggestions</a:t>
            </a:r>
          </a:p>
          <a:p>
            <a:endParaRPr lang="en-IN" dirty="0"/>
          </a:p>
          <a:p>
            <a:r>
              <a:rPr lang="en-IN" dirty="0"/>
              <a:t>Also to our beloved classmates for all the discussions we had regarding these topics.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9FFC26-0A89-B0DD-CAFF-218534273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Acknowledgments</a:t>
            </a:r>
          </a:p>
        </p:txBody>
      </p:sp>
    </p:spTree>
    <p:extLst>
      <p:ext uri="{BB962C8B-B14F-4D97-AF65-F5344CB8AC3E}">
        <p14:creationId xmlns:p14="http://schemas.microsoft.com/office/powerpoint/2010/main" val="263865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6CC760-5126-8AC3-D911-4EE7EF157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8925" y="1797954"/>
            <a:ext cx="11849100" cy="5135100"/>
          </a:xfrm>
        </p:spPr>
        <p:txBody>
          <a:bodyPr/>
          <a:lstStyle/>
          <a:p>
            <a:r>
              <a:rPr lang="en-IN" dirty="0">
                <a:hlinkClick r:id="rId2"/>
              </a:rPr>
              <a:t>https://www.itl.nist.gov/div898/handbook/eda/section3/eda35g.htm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3"/>
              </a:rPr>
              <a:t>https://www.jstor.org/stable/2280095</a:t>
            </a:r>
            <a:r>
              <a:rPr lang="en-IN" dirty="0"/>
              <a:t>?</a:t>
            </a:r>
          </a:p>
          <a:p>
            <a:endParaRPr lang="en-IN" dirty="0"/>
          </a:p>
          <a:p>
            <a:r>
              <a:rPr lang="en-IN" dirty="0">
                <a:hlinkClick r:id="rId4"/>
              </a:rPr>
              <a:t>https://www.spss-tutorials.com/cramers-v-what-and-why/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5"/>
              </a:rPr>
              <a:t>https://scikit-learn.org/stable/modules/generated/sklearn.ensemble.RandomForestClassifier.html</a:t>
            </a:r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06267D-F027-2C80-64E1-515711A6F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121119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40064E-1DE9-879B-D25C-0B04AD86B3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" y="379985"/>
            <a:ext cx="12188700" cy="1698600"/>
          </a:xfrm>
        </p:spPr>
        <p:txBody>
          <a:bodyPr/>
          <a:lstStyle/>
          <a:p>
            <a:r>
              <a:rPr lang="en-IN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123046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50">
        <p:cut/>
      </p:transition>
    </mc:Choice>
    <mc:Fallback xmlns="">
      <p:transition>
        <p:cut/>
      </p:transition>
    </mc:Fallback>
  </mc:AlternateContent>
</p:sld>
</file>

<file path=ppt/theme/theme1.xml><?xml version="1.0" encoding="utf-8"?>
<a:theme xmlns:a="http://schemas.openxmlformats.org/drawingml/2006/main" name="Clarkson">
  <a:themeElements>
    <a:clrScheme name="Clarkson">
      <a:dk1>
        <a:srgbClr val="004C42"/>
      </a:dk1>
      <a:lt1>
        <a:srgbClr val="FFCE00"/>
      </a:lt1>
      <a:dk2>
        <a:srgbClr val="004C42"/>
      </a:dk2>
      <a:lt2>
        <a:srgbClr val="D7D0C9"/>
      </a:lt2>
      <a:accent1>
        <a:srgbClr val="78993D"/>
      </a:accent1>
      <a:accent2>
        <a:srgbClr val="FFCE00"/>
      </a:accent2>
      <a:accent3>
        <a:srgbClr val="458AC8"/>
      </a:accent3>
      <a:accent4>
        <a:srgbClr val="D04627"/>
      </a:accent4>
      <a:accent5>
        <a:srgbClr val="1D366C"/>
      </a:accent5>
      <a:accent6>
        <a:srgbClr val="6E625A"/>
      </a:accent6>
      <a:hlink>
        <a:srgbClr val="A49B94"/>
      </a:hlink>
      <a:folHlink>
        <a:srgbClr val="A49B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1377</Words>
  <Application>Microsoft Office PowerPoint</Application>
  <PresentationFormat>Custom</PresentationFormat>
  <Paragraphs>374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Times New Roman</vt:lpstr>
      <vt:lpstr>Segoe UI Variable Text</vt:lpstr>
      <vt:lpstr>Roboto</vt:lpstr>
      <vt:lpstr>Arial</vt:lpstr>
      <vt:lpstr>Montserrat</vt:lpstr>
      <vt:lpstr>Zilla Slab SemiBold</vt:lpstr>
      <vt:lpstr>Clarkson</vt:lpstr>
      <vt:lpstr>Data Mining for Health: Investigating Weight Categories and Contributing Factors</vt:lpstr>
      <vt:lpstr>Introduction</vt:lpstr>
      <vt:lpstr>Objective</vt:lpstr>
      <vt:lpstr>Data source &amp; Variables</vt:lpstr>
      <vt:lpstr>Data Visualizations</vt:lpstr>
      <vt:lpstr>Data Visualizations</vt:lpstr>
      <vt:lpstr>Kolmogorov-Smirnov test</vt:lpstr>
      <vt:lpstr>Correlation Plot</vt:lpstr>
      <vt:lpstr>Variance Inflation Factor (VIF)</vt:lpstr>
      <vt:lpstr>Principal Component Analysis (PCA)</vt:lpstr>
      <vt:lpstr>Categorical Analysis</vt:lpstr>
      <vt:lpstr>Categorical Analysis</vt:lpstr>
      <vt:lpstr>Statistical Analysis</vt:lpstr>
      <vt:lpstr>Statistical Analysis</vt:lpstr>
      <vt:lpstr>Random Forrest</vt:lpstr>
      <vt:lpstr>Decision Tree</vt:lpstr>
      <vt:lpstr>Limitations</vt:lpstr>
      <vt:lpstr>Future Scope</vt:lpstr>
      <vt:lpstr>Acknowledgments</vt:lpstr>
      <vt:lpstr>References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O'Berg, Gary</dc:creator>
  <cp:lastModifiedBy>sagar bangera</cp:lastModifiedBy>
  <cp:revision>5</cp:revision>
  <dcterms:created xsi:type="dcterms:W3CDTF">2021-08-31T14:05:53Z</dcterms:created>
  <dcterms:modified xsi:type="dcterms:W3CDTF">2024-11-28T22:59:07Z</dcterms:modified>
</cp:coreProperties>
</file>